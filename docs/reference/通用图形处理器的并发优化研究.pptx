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303" r:id="rId4"/>
    <p:sldId id="1490" r:id="rId5"/>
    <p:sldId id="1508" r:id="rId7"/>
    <p:sldId id="1509" r:id="rId8"/>
    <p:sldId id="1510" r:id="rId9"/>
    <p:sldId id="1529" r:id="rId10"/>
    <p:sldId id="1520" r:id="rId11"/>
    <p:sldId id="1491" r:id="rId12"/>
    <p:sldId id="1515" r:id="rId13"/>
    <p:sldId id="1516" r:id="rId14"/>
    <p:sldId id="1518" r:id="rId15"/>
    <p:sldId id="1519" r:id="rId16"/>
    <p:sldId id="1504" r:id="rId17"/>
    <p:sldId id="1512" r:id="rId18"/>
    <p:sldId id="1495" r:id="rId19"/>
    <p:sldId id="1493" r:id="rId20"/>
    <p:sldId id="1501" r:id="rId21"/>
    <p:sldId id="1500" r:id="rId22"/>
    <p:sldId id="1502" r:id="rId23"/>
    <p:sldId id="1506" r:id="rId24"/>
    <p:sldId id="1522" r:id="rId25"/>
    <p:sldId id="1521" r:id="rId26"/>
    <p:sldId id="1523" r:id="rId27"/>
    <p:sldId id="1527" r:id="rId28"/>
    <p:sldId id="1528" r:id="rId29"/>
    <p:sldId id="1525" r:id="rId30"/>
    <p:sldId id="1494" r:id="rId31"/>
    <p:sldId id="1503" r:id="rId32"/>
    <p:sldId id="1265" r:id="rId33"/>
  </p:sldIdLst>
  <p:sldSz cx="10945495" cy="6858000"/>
  <p:notesSz cx="6858000" cy="9144000"/>
  <p:custDataLst>
    <p:tags r:id="rId3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5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WenWen" initials="W" lastIdx="1" clrIdx="6"/>
  <p:cmAuthor id="21" name="Microsoft Office 用户" initials="Office [10]" lastIdx="1" clrIdx="20"/>
  <p:cmAuthor id="1" name="user" initials="u" lastIdx="1" clrIdx="0"/>
  <p:cmAuthor id="8" name="姜伟光" initials="姜" lastIdx="1" clrIdx="0"/>
  <p:cmAuthor id="2" name="Athene" initials="A" lastIdx="2" clrIdx="1"/>
  <p:cmAuthor id="9" name="宋洁然" initials="宋" lastIdx="2" clrIdx="1"/>
  <p:cmAuthor id="3" name="Microsoft Office User" initials="M" lastIdx="1" clrIdx="2"/>
  <p:cmAuthor id="10" name="ming qiu" initials="m" lastIdx="17" clrIdx="1"/>
  <p:cmAuthor id="4" name="loongson" initials="l" lastIdx="19" clrIdx="3"/>
  <p:cmAuthor id="18" name="robin.song" initials="r [3]" lastIdx="1" clrIdx="17"/>
  <p:cmAuthor id="5" name=" " initials=" " lastIdx="1" clrIdx="3"/>
  <p:cmAuthor id="6" name="liulili" initials="l" lastIdx="13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542E"/>
    <a:srgbClr val="003366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1992"/>
        <p:guide pos="353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482b5ee5aa8c1c7c/&#25991;&#26723;/gpu_threads_tre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0" i="0" u="none" strike="noStrike" kern="1200" spc="0" baseline="0">
                <a:solidFill>
                  <a:srgbClr val="003366">
                    <a:lumMod val="65000"/>
                    <a:lumOff val="35000"/>
                  </a:srgbClr>
                </a:solidFill>
              </a:rPr>
              <a:t>NVIDIA Tesla</a:t>
            </a:r>
            <a:r>
              <a:rPr lang="zh-CN" altLang="zh-CN" sz="1400" b="0" i="0" u="none" strike="noStrike" kern="1200" spc="0" baseline="0">
                <a:solidFill>
                  <a:srgbClr val="003366">
                    <a:lumMod val="65000"/>
                    <a:lumOff val="35000"/>
                  </a:srgbClr>
                </a:solidFill>
              </a:rPr>
              <a:t>系计算卡</a:t>
            </a:r>
            <a:endParaRPr lang="zh-CN" altLang="zh-CN" sz="1400" b="0" i="0" u="none" strike="noStrike" kern="1200" spc="0" baseline="0">
              <a:solidFill>
                <a:srgbClr val="003366">
                  <a:lumMod val="65000"/>
                  <a:lumOff val="35000"/>
                </a:srgbClr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[gpu_threads_trend.xlsx]Sheet1!$C$1</c:f>
              <c:strCache>
                <c:ptCount val="1"/>
                <c:pt idx="0">
                  <c:v>threads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numRef>
              <c:f>[gpu_threads_trend.xlsx]Sheet1!$B$2:$B$7</c:f>
              <c:numCache>
                <c:formatCode>General</c:formatCode>
                <c:ptCount val="6"/>
                <c:pt idx="0">
                  <c:v>2012</c:v>
                </c:pt>
                <c:pt idx="1">
                  <c:v>2014</c:v>
                </c:pt>
                <c:pt idx="2">
                  <c:v>2016</c:v>
                </c:pt>
                <c:pt idx="3">
                  <c:v>2017</c:v>
                </c:pt>
                <c:pt idx="4">
                  <c:v>2020</c:v>
                </c:pt>
                <c:pt idx="5">
                  <c:v>2022</c:v>
                </c:pt>
              </c:numCache>
            </c:numRef>
          </c:cat>
          <c:val>
            <c:numRef>
              <c:f>[gpu_threads_trend.xlsx]Sheet1!$C$2:$C$7</c:f>
              <c:numCache>
                <c:formatCode>General</c:formatCode>
                <c:ptCount val="6"/>
                <c:pt idx="0">
                  <c:v>30720</c:v>
                </c:pt>
                <c:pt idx="1">
                  <c:v>49152</c:v>
                </c:pt>
                <c:pt idx="2">
                  <c:v>114688</c:v>
                </c:pt>
                <c:pt idx="3">
                  <c:v>163840</c:v>
                </c:pt>
                <c:pt idx="4">
                  <c:v>221184</c:v>
                </c:pt>
                <c:pt idx="5">
                  <c:v>270336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8916656"/>
        <c:axId val="374185984"/>
      </c:lineChart>
      <c:lineChart>
        <c:grouping val="stacked"/>
        <c:varyColors val="0"/>
        <c:ser>
          <c:idx val="1"/>
          <c:order val="1"/>
          <c:tx>
            <c:strRef>
              <c:f>[gpu_threads_trend.xlsx]Sheet1!$D$1</c:f>
              <c:strCache>
                <c:ptCount val="1"/>
                <c:pt idx="0">
                  <c:v>FP32算力（TFLOPS）</c:v>
                </c:pt>
              </c:strCache>
            </c:strRef>
          </c:tx>
          <c:spPr>
            <a:ln w="28575" cap="rnd">
              <a:solidFill>
                <a:srgbClr val="92542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2542E"/>
              </a:solidFill>
              <a:ln w="9525">
                <a:solidFill>
                  <a:srgbClr val="92542E"/>
                </a:solidFill>
              </a:ln>
              <a:effectLst/>
            </c:spPr>
          </c:marker>
          <c:dLbls>
            <c:delete val="1"/>
          </c:dLbls>
          <c:val>
            <c:numRef>
              <c:f>[gpu_threads_trend.xlsx]Sheet1!$D$2:$D$7</c:f>
              <c:numCache>
                <c:formatCode>General</c:formatCode>
                <c:ptCount val="6"/>
                <c:pt idx="0">
                  <c:v>5</c:v>
                </c:pt>
                <c:pt idx="1">
                  <c:v>6.8</c:v>
                </c:pt>
                <c:pt idx="2">
                  <c:v>10.6</c:v>
                </c:pt>
                <c:pt idx="3">
                  <c:v>15.7</c:v>
                </c:pt>
                <c:pt idx="4">
                  <c:v>19.5</c:v>
                </c:pt>
                <c:pt idx="5">
                  <c:v>60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085280"/>
        <c:axId val="303085760"/>
      </c:lineChart>
      <c:catAx>
        <c:axId val="378916656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74185984"/>
        <c:crosses val="autoZero"/>
        <c:auto val="1"/>
        <c:lblAlgn val="ctr"/>
        <c:lblOffset val="100"/>
        <c:noMultiLvlLbl val="0"/>
      </c:catAx>
      <c:valAx>
        <c:axId val="37418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78916656"/>
        <c:crosses val="autoZero"/>
        <c:crossBetween val="between"/>
      </c:valAx>
      <c:catAx>
        <c:axId val="303085280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085760"/>
        <c:crosses val="autoZero"/>
        <c:auto val="1"/>
        <c:lblAlgn val="ctr"/>
        <c:lblOffset val="100"/>
        <c:noMultiLvlLbl val="0"/>
      </c:catAx>
      <c:valAx>
        <c:axId val="3030857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08528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aed596a-45e8-4d66-9661-eaf2f9849a7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页眉占位符 12390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z="1200" b="0" strike="noStrike" noProof="1"/>
          </a:p>
        </p:txBody>
      </p:sp>
      <p:sp>
        <p:nvSpPr>
          <p:cNvPr id="123907" name="日期占位符 123906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zh-CN" altLang="en-US" sz="1200" b="0" strike="noStrike" noProof="1"/>
          </a:p>
        </p:txBody>
      </p:sp>
      <p:sp>
        <p:nvSpPr>
          <p:cNvPr id="58372" name="幻灯片图像占位符 123907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93738" y="685800"/>
            <a:ext cx="5470525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8373" name="文本占位符 123908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3910" name="页脚占位符 123909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fontAlgn="base"/>
            <a:endParaRPr lang="zh-CN" altLang="en-US" sz="1200" b="0" strike="noStrike" noProof="1"/>
          </a:p>
        </p:txBody>
      </p:sp>
      <p:sp>
        <p:nvSpPr>
          <p:cNvPr id="123911" name="灯片编号占位符 123910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自适应并行规模：</a:t>
            </a:r>
            <a:r>
              <a:rPr lang="en-GB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SIMT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的线程数量可动态扩展（如从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32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线程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/</a:t>
            </a:r>
            <a:r>
              <a:rPr lang="en-GB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Warp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至数千线程），适配不同规模任务。例如，小矩阵乘法可用少量线程，而大模型训练可启动百万级线程。对于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NPU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，并行度受硬件限制，没有硬件调度机制。</a:t>
            </a:r>
            <a:b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无需将数据凑成矢量长度：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向量加法仅需为每个元素分配独立线程，无需显式设计</a:t>
            </a:r>
            <a:r>
              <a:rPr lang="en-GB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SIMD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向量长度</a:t>
            </a:r>
            <a:b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无需软件流水编排：如果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采用固定数据流，若计算单元因依赖关系空闲（如等待卷积权重加载），利用率可能降至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30%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以下</a:t>
            </a:r>
            <a:endParaRPr lang="en-US" altLang="zh-CN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GPU</a:t>
            </a:r>
            <a:r>
              <a:rPr lang="zh-CN" altLang="en-US"/>
              <a:t>上的并行任务发展趋势是越来越多的计算任务，以及越来越多的数据量</a:t>
            </a:r>
            <a:br>
              <a:rPr lang="en-US" altLang="zh-CN"/>
            </a:br>
            <a:r>
              <a:rPr lang="zh-CN" altLang="en-US"/>
              <a:t>历史：最开始图形，在统一着色器后科学家用来跑科学计算（大气模拟等场景），再到后来从</a:t>
            </a:r>
            <a:r>
              <a:rPr lang="en-US" altLang="zh-CN" err="1"/>
              <a:t>AlexNet</a:t>
            </a:r>
            <a:r>
              <a:rPr lang="zh-CN" altLang="en-US"/>
              <a:t>开始用</a:t>
            </a:r>
            <a:r>
              <a:rPr lang="en-US" altLang="zh-CN"/>
              <a:t>2</a:t>
            </a:r>
            <a:r>
              <a:rPr lang="zh-CN" altLang="en-US"/>
              <a:t>张</a:t>
            </a:r>
            <a:r>
              <a:rPr lang="en-US" altLang="zh-CN"/>
              <a:t>GTX580</a:t>
            </a:r>
            <a:r>
              <a:rPr lang="zh-CN" altLang="en-US"/>
              <a:t>训练训练</a:t>
            </a:r>
            <a:r>
              <a:rPr lang="en-US" altLang="zh-CN"/>
              <a:t>6</a:t>
            </a:r>
            <a:r>
              <a:rPr lang="zh-CN" altLang="en-US"/>
              <a:t>天（</a:t>
            </a:r>
            <a:r>
              <a:rPr lang="en-US" altLang="zh-CN"/>
              <a:t>2012</a:t>
            </a:r>
            <a:r>
              <a:rPr lang="zh-CN" altLang="en-US"/>
              <a:t>），</a:t>
            </a:r>
            <a:br>
              <a:rPr lang="en-US" altLang="zh-CN"/>
            </a:br>
            <a:r>
              <a:rPr lang="zh-CN" altLang="en-US"/>
              <a:t>再到如今用多卡互联的方式训练大模型，</a:t>
            </a:r>
            <a:r>
              <a:rPr lang="en-US" altLang="zh-CN"/>
              <a:t>GPU</a:t>
            </a:r>
            <a:r>
              <a:rPr lang="zh-CN" altLang="en-US"/>
              <a:t>的应用领域在不断拓展，算力在不断激增。</a:t>
            </a:r>
            <a:endParaRPr lang="en-US" altLang="zh-CN"/>
          </a:p>
          <a:p>
            <a:r>
              <a:rPr lang="zh-CN" altLang="en-US"/>
              <a:t>大模型：从</a:t>
            </a:r>
            <a:r>
              <a:rPr lang="en-US" altLang="zh-CN"/>
              <a:t>CNN</a:t>
            </a:r>
            <a:r>
              <a:rPr lang="zh-CN" altLang="en-US"/>
              <a:t>到现在以</a:t>
            </a:r>
            <a:r>
              <a:rPr lang="en-US" altLang="zh-CN"/>
              <a:t>transformer</a:t>
            </a:r>
            <a:r>
              <a:rPr lang="zh-CN" altLang="en-US"/>
              <a:t>大模型系统，算力需求在以指数形式增长</a:t>
            </a:r>
            <a:br>
              <a:rPr lang="en-US" altLang="zh-CN"/>
            </a:br>
            <a:r>
              <a:rPr lang="zh-CN" altLang="en-US"/>
              <a:t>伴随而来的是硬件上算力的增长以及并发线程数目的增多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多卡训练的背景下，</a:t>
            </a:r>
            <a:r>
              <a:rPr lang="en-US" altLang="zh-CN"/>
              <a:t>scale</a:t>
            </a:r>
            <a:r>
              <a:rPr lang="zh-CN" altLang="en-US"/>
              <a:t> </a:t>
            </a:r>
            <a:r>
              <a:rPr lang="en-US" altLang="zh-CN"/>
              <a:t>up</a:t>
            </a:r>
            <a:r>
              <a:rPr lang="zh-CN" altLang="en-US"/>
              <a:t>和</a:t>
            </a:r>
            <a:r>
              <a:rPr lang="en-US" altLang="zh-CN"/>
              <a:t>scale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概念火热的情况下，单卡性能依旧很重要</a:t>
            </a:r>
            <a:br>
              <a:rPr lang="en-US" altLang="zh-CN"/>
            </a:b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多卡训练中，通信（如梯度同步、参数聚合）时间占比随卡数增加而上升，且计算与通信是严格串行的。</a:t>
            </a:r>
            <a:b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Deepseek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在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H800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上的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132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个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SM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中把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20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个</a:t>
            </a:r>
            <a:r>
              <a:rPr lang="en-US" altLang="zh-CN" b="0" i="0" u="none" strike="noStrike">
                <a:solidFill>
                  <a:srgbClr val="404040"/>
                </a:solidFill>
                <a:effectLst/>
                <a:latin typeface="quote-cjk-patch"/>
              </a:rPr>
              <a:t>SM</a:t>
            </a:r>
            <a:r>
              <a:rPr lang="zh-CN" altLang="en-US" b="0" i="0" u="none" strike="noStrike">
                <a:solidFill>
                  <a:srgbClr val="404040"/>
                </a:solidFill>
                <a:effectLst/>
                <a:latin typeface="quote-cjk-patch"/>
              </a:rPr>
              <a:t>用作通信。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12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我们把调度逻辑分为两类：</a:t>
            </a:r>
            <a:endParaRPr lang="en-US" altLang="zh-CN" sz="1200" kern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一类是任务映射：即把</a:t>
            </a:r>
            <a:r>
              <a:rPr lang="en-US" altLang="zh-CN" sz="12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个任务分发到多个不同硬件上，</a:t>
            </a:r>
            <a:br>
              <a:rPr lang="en-US" altLang="zh-CN" sz="12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第二类是优先级仲裁：</a:t>
            </a:r>
            <a:r>
              <a:rPr lang="zh-CN" altLang="en-US" sz="1200" b="0">
                <a:latin typeface="微软雅黑" panose="020B0503020204020204" pitchFamily="34" charset="-122"/>
                <a:ea typeface="微软雅黑" panose="020B0503020204020204" pitchFamily="34" charset="-122"/>
              </a:rPr>
              <a:t>多个任务请求到相同硬件，需要裁定执行顺序，利用</a:t>
            </a:r>
            <a:r>
              <a:rPr lang="en-US" altLang="zh-CN" sz="1200" b="0">
                <a:latin typeface="微软雅黑" panose="020B0503020204020204" pitchFamily="34" charset="-122"/>
                <a:ea typeface="微软雅黑" panose="020B0503020204020204" pitchFamily="34" charset="-122"/>
              </a:rPr>
              <a:t>TLP</a:t>
            </a:r>
            <a:r>
              <a:rPr lang="zh-CN" altLang="en-US" sz="1200" b="0">
                <a:latin typeface="微软雅黑" panose="020B0503020204020204" pitchFamily="34" charset="-122"/>
                <a:ea typeface="微软雅黑" panose="020B0503020204020204" pitchFamily="34" charset="-122"/>
              </a:rPr>
              <a:t>让有限的硬件资源尽量忙碌</a:t>
            </a:r>
            <a:endParaRPr lang="zh-CN" altLang="en-US" sz="12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>
                <a:sym typeface="Wingdings" panose="05000000000000000000" pitchFamily="2" charset="2"/>
              </a:rPr>
              <a:t>在面积局限下有两条路，一个是做多</a:t>
            </a:r>
            <a:r>
              <a:rPr lang="en-US" altLang="zh-CN">
                <a:sym typeface="Wingdings" panose="05000000000000000000" pitchFamily="2" charset="2"/>
              </a:rPr>
              <a:t>die</a:t>
            </a:r>
            <a:r>
              <a:rPr lang="zh-CN" altLang="en-US">
                <a:sym typeface="Wingdings" panose="05000000000000000000" pitchFamily="2" charset="2"/>
              </a:rPr>
              <a:t>封装（如同</a:t>
            </a:r>
            <a:r>
              <a:rPr lang="en-US" altLang="zh-CN">
                <a:sym typeface="Wingdings" panose="05000000000000000000" pitchFamily="2" charset="2"/>
              </a:rPr>
              <a:t>AMD</a:t>
            </a:r>
            <a:r>
              <a:rPr lang="zh-CN" altLang="en-US">
                <a:sym typeface="Wingdings" panose="05000000000000000000" pitchFamily="2" charset="2"/>
              </a:rPr>
              <a:t>的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个</a:t>
            </a:r>
            <a:r>
              <a:rPr lang="en-US" altLang="zh-CN">
                <a:sym typeface="Wingdings" panose="05000000000000000000" pitchFamily="2" charset="2"/>
              </a:rPr>
              <a:t>GCD</a:t>
            </a:r>
            <a:r>
              <a:rPr lang="zh-CN" altLang="en-US">
                <a:sym typeface="Wingdings" panose="05000000000000000000" pitchFamily="2" charset="2"/>
              </a:rPr>
              <a:t>封装进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个</a:t>
            </a:r>
            <a:r>
              <a:rPr lang="en-US" altLang="zh-CN">
                <a:sym typeface="Wingdings" panose="05000000000000000000" pitchFamily="2" charset="2"/>
              </a:rPr>
              <a:t>MI250</a:t>
            </a:r>
            <a:r>
              <a:rPr lang="zh-CN" altLang="en-US">
                <a:sym typeface="Wingdings" panose="05000000000000000000" pitchFamily="2" charset="2"/>
              </a:rPr>
              <a:t>芯片），一个就是关注于性能释放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硬件只能支持有限数量的</a:t>
            </a:r>
            <a:r>
              <a:rPr lang="en-US" altLang="zh-CN"/>
              <a:t>queue</a:t>
            </a:r>
            <a:r>
              <a:rPr lang="zh-CN" altLang="en-US"/>
              <a:t>，所以当</a:t>
            </a:r>
            <a:r>
              <a:rPr lang="en-US" altLang="zh-CN"/>
              <a:t>user queue</a:t>
            </a:r>
            <a:r>
              <a:rPr lang="zh-CN" altLang="en-US"/>
              <a:t>太多，会出现</a:t>
            </a:r>
            <a:r>
              <a:rPr lang="en-US" altLang="zh-CN"/>
              <a:t>oversubscribe</a:t>
            </a:r>
            <a:r>
              <a:rPr lang="zh-CN" altLang="en-US"/>
              <a:t>行为。 一个比较直接的方法是：经过固定时间就切换不同的</a:t>
            </a:r>
            <a:r>
              <a:rPr lang="en-US" altLang="zh-CN"/>
              <a:t>user queue</a:t>
            </a:r>
            <a:r>
              <a:rPr lang="zh-CN" altLang="en-US"/>
              <a:t>到硬件</a:t>
            </a:r>
            <a:r>
              <a:rPr lang="en-US" altLang="zh-CN"/>
              <a:t>queue</a:t>
            </a:r>
            <a:r>
              <a:rPr lang="zh-CN" altLang="en-US"/>
              <a:t>。这个方法遇到</a:t>
            </a:r>
            <a:r>
              <a:rPr lang="en-US" altLang="zh-CN"/>
              <a:t>mapped queue</a:t>
            </a:r>
            <a:r>
              <a:rPr lang="zh-CN" altLang="en-US"/>
              <a:t>依赖</a:t>
            </a:r>
            <a:r>
              <a:rPr lang="en-US" altLang="zh-CN"/>
              <a:t>unmapped queue</a:t>
            </a:r>
            <a:r>
              <a:rPr lang="zh-CN" altLang="en-US"/>
              <a:t>时，性能下降会很严重。</a:t>
            </a:r>
            <a:endParaRPr lang="zh-CN" altLang="en-US"/>
          </a:p>
          <a:p>
            <a:r>
              <a:rPr lang="en-US" altLang="zh-CN"/>
              <a:t>Round-robin blind</a:t>
            </a:r>
            <a:r>
              <a:rPr lang="zh-CN" altLang="en-US"/>
              <a:t>：每隔固定时间，轮询选择一个</a:t>
            </a:r>
            <a:r>
              <a:rPr lang="en-US" altLang="zh-CN"/>
              <a:t>hardware queue</a:t>
            </a:r>
            <a:r>
              <a:rPr lang="zh-CN" altLang="en-US"/>
              <a:t>解绑，同时也轮询一个</a:t>
            </a:r>
            <a:r>
              <a:rPr lang="en-US" altLang="zh-CN"/>
              <a:t>HSA queue</a:t>
            </a:r>
            <a:r>
              <a:rPr lang="zh-CN" altLang="en-US"/>
              <a:t>映射到该</a:t>
            </a:r>
            <a:r>
              <a:rPr lang="en-US" altLang="zh-CN"/>
              <a:t>hardware queue</a:t>
            </a:r>
            <a:r>
              <a:rPr lang="zh-CN" altLang="en-US"/>
              <a:t>中。同时选择</a:t>
            </a:r>
            <a:r>
              <a:rPr lang="en-US" altLang="zh-CN"/>
              <a:t>HSA</a:t>
            </a:r>
            <a:r>
              <a:rPr lang="zh-CN" altLang="en-US"/>
              <a:t>时不会查询该</a:t>
            </a:r>
            <a:r>
              <a:rPr lang="en-US" altLang="zh-CN"/>
              <a:t>queue</a:t>
            </a:r>
            <a:r>
              <a:rPr lang="zh-CN" altLang="en-US"/>
              <a:t>状态（</a:t>
            </a:r>
            <a:r>
              <a:rPr lang="en-US" altLang="zh-CN"/>
              <a:t>blind</a:t>
            </a:r>
            <a:r>
              <a:rPr lang="zh-CN" altLang="en-US"/>
              <a:t>），所以可能选到空的</a:t>
            </a:r>
            <a:r>
              <a:rPr lang="en-US" altLang="zh-CN"/>
              <a:t>HSA queue</a:t>
            </a:r>
            <a:endParaRPr lang="en-US" altLang="zh-CN"/>
          </a:p>
          <a:p>
            <a:r>
              <a:rPr lang="en-US" altLang="zh-CN"/>
              <a:t>Round-robin timeout</a:t>
            </a:r>
            <a:r>
              <a:rPr lang="zh-CN" altLang="en-US"/>
              <a:t>：类似</a:t>
            </a:r>
            <a:r>
              <a:rPr lang="en-US" altLang="zh-CN"/>
              <a:t>RR-blind</a:t>
            </a:r>
            <a:r>
              <a:rPr lang="zh-CN" altLang="en-US"/>
              <a:t>，但选择</a:t>
            </a:r>
            <a:r>
              <a:rPr lang="en-US" altLang="zh-CN"/>
              <a:t>HSA queue</a:t>
            </a:r>
            <a:r>
              <a:rPr lang="zh-CN" altLang="en-US"/>
              <a:t>会查询状态，不会选空队列</a:t>
            </a:r>
            <a:endParaRPr lang="zh-CN" altLang="en-US"/>
          </a:p>
          <a:p>
            <a:r>
              <a:rPr lang="en-US" altLang="zh-CN"/>
              <a:t>Round-robin immediate</a:t>
            </a:r>
            <a:r>
              <a:rPr lang="zh-CN" altLang="en-US"/>
              <a:t>：相比</a:t>
            </a:r>
            <a:r>
              <a:rPr lang="en-US" altLang="zh-CN"/>
              <a:t>RR-tou</a:t>
            </a:r>
            <a:r>
              <a:rPr lang="zh-CN" altLang="en-US"/>
              <a:t>，本策略没有时间片，会在</a:t>
            </a:r>
            <a:r>
              <a:rPr lang="en-US" altLang="zh-CN"/>
              <a:t>hardware queue</a:t>
            </a:r>
            <a:r>
              <a:rPr lang="zh-CN" altLang="en-US"/>
              <a:t>空时立即切换下一个</a:t>
            </a:r>
            <a:r>
              <a:rPr lang="en-US" altLang="zh-CN"/>
              <a:t>HSA queue</a:t>
            </a:r>
            <a:endParaRPr lang="en-US" altLang="zh-CN"/>
          </a:p>
          <a:p>
            <a:r>
              <a:rPr lang="en-US" altLang="zh-CN"/>
              <a:t>Queue-priority timeout</a:t>
            </a:r>
            <a:r>
              <a:rPr lang="zh-CN" altLang="en-US"/>
              <a:t>：</a:t>
            </a:r>
            <a:r>
              <a:rPr lang="en-US" altLang="zh-CN"/>
              <a:t>HSA queue</a:t>
            </a:r>
            <a:r>
              <a:rPr lang="zh-CN" altLang="en-US"/>
              <a:t>有优先级，时间片耗尽时选择时选优先级最高的</a:t>
            </a:r>
            <a:r>
              <a:rPr lang="en-US" altLang="zh-CN"/>
              <a:t>queue</a:t>
            </a:r>
            <a:r>
              <a:rPr lang="zh-CN" altLang="en-US"/>
              <a:t>，同时高优先级的</a:t>
            </a:r>
            <a:r>
              <a:rPr lang="en-US" altLang="zh-CN"/>
              <a:t>queue</a:t>
            </a:r>
            <a:r>
              <a:rPr lang="zh-CN" altLang="en-US"/>
              <a:t>不会被低优先级的</a:t>
            </a:r>
            <a:r>
              <a:rPr lang="en-US" altLang="zh-CN"/>
              <a:t>queue</a:t>
            </a:r>
            <a:r>
              <a:rPr lang="zh-CN" altLang="en-US"/>
              <a:t>给抢占</a:t>
            </a:r>
            <a:endParaRPr lang="zh-CN" altLang="en-US"/>
          </a:p>
          <a:p>
            <a:r>
              <a:rPr lang="en-US" altLang="zh-CN"/>
              <a:t>Queue-priority immdiate</a:t>
            </a:r>
            <a:r>
              <a:rPr lang="zh-CN" altLang="en-US"/>
              <a:t>：相比</a:t>
            </a:r>
            <a:r>
              <a:rPr lang="en-US" altLang="zh-CN"/>
              <a:t>QP-tout</a:t>
            </a:r>
            <a:r>
              <a:rPr lang="zh-CN" altLang="en-US"/>
              <a:t>，</a:t>
            </a:r>
            <a:r>
              <a:rPr lang="en-US" altLang="zh-CN"/>
              <a:t>hardware queue</a:t>
            </a:r>
            <a:r>
              <a:rPr lang="zh-CN" altLang="en-US"/>
              <a:t>空时立即切换</a:t>
            </a:r>
            <a:r>
              <a:rPr lang="en-US" altLang="zh-CN"/>
              <a:t>HSA queue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基于优先级的</a:t>
            </a:r>
            <a:r>
              <a:rPr lang="en-US" altLang="zh-CN"/>
              <a:t>QP</a:t>
            </a:r>
            <a:r>
              <a:rPr lang="zh-CN" altLang="en-US"/>
              <a:t>策略效果好，有的时候</a:t>
            </a:r>
            <a:r>
              <a:rPr lang="en-US" altLang="zh-CN"/>
              <a:t>tout</a:t>
            </a:r>
            <a:r>
              <a:rPr lang="zh-CN" altLang="en-US"/>
              <a:t>好 有的时候</a:t>
            </a:r>
            <a:r>
              <a:rPr lang="en-US" altLang="zh-CN"/>
              <a:t>imm</a:t>
            </a:r>
            <a:r>
              <a:rPr lang="zh-CN" altLang="en-US"/>
              <a:t>好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/>
              <a:t>GPU Navigator</a:t>
            </a:r>
            <a:r>
              <a:rPr lang="zh-CN" altLang="en-US"/>
              <a:t>关注问题：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）当有</a:t>
            </a:r>
            <a:r>
              <a:rPr lang="en-US" altLang="zh-CN"/>
              <a:t>2 kernel</a:t>
            </a:r>
            <a:r>
              <a:rPr lang="zh-CN" altLang="en-US"/>
              <a:t>同时执行时，如何提高性能与资源利用率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）如何从一堆</a:t>
            </a:r>
            <a:r>
              <a:rPr lang="en-US" altLang="zh-CN"/>
              <a:t>kernel</a:t>
            </a:r>
            <a:r>
              <a:rPr lang="zh-CN" altLang="en-US"/>
              <a:t>中，选择并行执行效率高的</a:t>
            </a:r>
            <a:r>
              <a:rPr lang="en-US" altLang="zh-CN"/>
              <a:t>kernel pair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思路：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COM+MEM</a:t>
            </a:r>
            <a:r>
              <a:rPr lang="zh-CN" altLang="en-US"/>
              <a:t>组合性能最高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）先让所有</a:t>
            </a:r>
            <a:r>
              <a:rPr lang="en-US" altLang="zh-CN"/>
              <a:t>kernel</a:t>
            </a:r>
            <a:r>
              <a:rPr lang="zh-CN" altLang="en-US"/>
              <a:t>跑一个</a:t>
            </a:r>
            <a:r>
              <a:rPr lang="en-US" altLang="zh-CN"/>
              <a:t>sampling period</a:t>
            </a:r>
            <a:r>
              <a:rPr lang="zh-CN" altLang="en-US"/>
              <a:t>，根据所得</a:t>
            </a:r>
            <a:r>
              <a:rPr lang="en-US" altLang="zh-CN"/>
              <a:t>IPC</a:t>
            </a:r>
            <a:r>
              <a:rPr lang="zh-CN" altLang="en-US"/>
              <a:t>指导后续所有</a:t>
            </a:r>
            <a:r>
              <a:rPr lang="en-US" altLang="zh-CN"/>
              <a:t>kernel</a:t>
            </a:r>
            <a:r>
              <a:rPr lang="zh-CN" altLang="en-US"/>
              <a:t>的调度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设计：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2</a:t>
            </a:r>
            <a:r>
              <a:rPr lang="zh-CN" altLang="en-US"/>
              <a:t>个类</a:t>
            </a:r>
            <a:r>
              <a:rPr lang="en-US" altLang="zh-CN"/>
              <a:t>cache</a:t>
            </a:r>
            <a:r>
              <a:rPr lang="zh-CN" altLang="en-US"/>
              <a:t>表存储</a:t>
            </a:r>
            <a:r>
              <a:rPr lang="en-US" altLang="zh-CN"/>
              <a:t>Single Kernel</a:t>
            </a:r>
            <a:r>
              <a:rPr lang="zh-CN" altLang="en-US"/>
              <a:t>和</a:t>
            </a:r>
            <a:r>
              <a:rPr lang="en-US" altLang="zh-CN"/>
              <a:t>Multi Kernel</a:t>
            </a:r>
            <a:r>
              <a:rPr lang="zh-CN" altLang="en-US"/>
              <a:t>信息。</a:t>
            </a:r>
            <a:endParaRPr lang="zh-CN" altLang="en-US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）每次有新的</a:t>
            </a:r>
            <a:r>
              <a:rPr lang="en-US" altLang="zh-CN"/>
              <a:t>kernel</a:t>
            </a:r>
            <a:r>
              <a:rPr lang="zh-CN" altLang="en-US"/>
              <a:t>，先跑</a:t>
            </a:r>
            <a:r>
              <a:rPr lang="en-US" altLang="zh-CN"/>
              <a:t>4%</a:t>
            </a:r>
            <a:r>
              <a:rPr lang="zh-CN" altLang="en-US"/>
              <a:t>的</a:t>
            </a:r>
            <a:r>
              <a:rPr lang="en-US" altLang="zh-CN"/>
              <a:t>blocks</a:t>
            </a:r>
            <a:r>
              <a:rPr lang="zh-CN" altLang="en-US"/>
              <a:t>，</a:t>
            </a:r>
            <a:br>
              <a:rPr lang="en-US" altLang="zh-CN"/>
            </a:br>
            <a:r>
              <a:rPr lang="en-US" altLang="zh-CN"/>
              <a:t>        </a:t>
            </a:r>
            <a:r>
              <a:rPr lang="zh-CN" altLang="en-US"/>
              <a:t>自动计算每个</a:t>
            </a:r>
            <a:r>
              <a:rPr lang="en-US" altLang="zh-CN"/>
              <a:t>kernel pair</a:t>
            </a:r>
            <a:r>
              <a:rPr lang="zh-CN" altLang="en-US"/>
              <a:t>的</a:t>
            </a:r>
            <a:r>
              <a:rPr lang="en-US" altLang="zh-CN"/>
              <a:t>STP</a:t>
            </a:r>
            <a:r>
              <a:rPr lang="zh-CN" altLang="en-US"/>
              <a:t>（</a:t>
            </a:r>
            <a:r>
              <a:rPr lang="en-US" altLang="zh-CN"/>
              <a:t>STP(System ThroughPut)</a:t>
            </a:r>
            <a:r>
              <a:rPr lang="zh-CN" altLang="en-US"/>
              <a:t>指把所有</a:t>
            </a:r>
            <a:r>
              <a:rPr lang="en-US" altLang="zh-CN"/>
              <a:t>workloads</a:t>
            </a:r>
            <a:r>
              <a:rPr lang="zh-CN" altLang="en-US"/>
              <a:t>做完的时间）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）根据估测的</a:t>
            </a:r>
            <a:r>
              <a:rPr lang="en-US" altLang="zh-CN"/>
              <a:t>STP</a:t>
            </a:r>
            <a:r>
              <a:rPr lang="zh-CN" altLang="en-US"/>
              <a:t>最大值，选择对应的</a:t>
            </a:r>
            <a:r>
              <a:rPr lang="en-US" altLang="zh-CN"/>
              <a:t>kernel pair</a:t>
            </a:r>
            <a:r>
              <a:rPr lang="zh-CN" altLang="en-US"/>
              <a:t>发射。</a:t>
            </a:r>
            <a:endParaRPr lang="zh-CN" altLang="en-US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背景：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/>
              <a:t>inter-warp-divergence:</a:t>
            </a:r>
            <a:r>
              <a:rPr lang="zh-CN" altLang="en-US"/>
              <a:t>同</a:t>
            </a:r>
            <a:r>
              <a:rPr lang="en-US" altLang="zh-CN"/>
              <a:t>kernel</a:t>
            </a:r>
            <a:r>
              <a:rPr lang="zh-CN" altLang="en-US"/>
              <a:t>的不同</a:t>
            </a:r>
            <a:r>
              <a:rPr lang="en-US" altLang="zh-CN"/>
              <a:t>warp</a:t>
            </a:r>
            <a:r>
              <a:rPr lang="zh-CN" altLang="en-US"/>
              <a:t>有了不同控制流 </a:t>
            </a:r>
            <a:br>
              <a:rPr lang="zh-CN" altLang="en-US"/>
            </a:br>
            <a:r>
              <a:rPr lang="zh-CN" altLang="en-US"/>
              <a:t>（在一些</a:t>
            </a:r>
            <a:r>
              <a:rPr lang="en-US" altLang="zh-CN"/>
              <a:t>highly-optimized case</a:t>
            </a:r>
            <a:r>
              <a:rPr lang="zh-CN" altLang="en-US"/>
              <a:t>中， 相同</a:t>
            </a:r>
            <a:r>
              <a:rPr lang="en-US" altLang="zh-CN"/>
              <a:t>control flow</a:t>
            </a:r>
            <a:r>
              <a:rPr lang="zh-CN" altLang="en-US"/>
              <a:t>的</a:t>
            </a:r>
            <a:r>
              <a:rPr lang="en-US" altLang="zh-CN"/>
              <a:t>thread</a:t>
            </a:r>
            <a:r>
              <a:rPr lang="zh-CN" altLang="en-US"/>
              <a:t>会被放入同一个</a:t>
            </a:r>
            <a:r>
              <a:rPr lang="en-US" altLang="zh-CN"/>
              <a:t>warp</a:t>
            </a:r>
            <a:r>
              <a:rPr lang="zh-CN" altLang="en-US"/>
              <a:t>中，这样就很可能产生</a:t>
            </a:r>
            <a:r>
              <a:rPr lang="en-US" altLang="zh-CN"/>
              <a:t>inter-warp-divergence</a:t>
            </a:r>
            <a:r>
              <a:rPr lang="zh-CN" altLang="en-US"/>
              <a:t>）</a:t>
            </a:r>
            <a:endParaRPr lang="zh-CN" altLang="en-US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（</a:t>
            </a:r>
            <a:r>
              <a:rPr lang="en-US" altLang="zh-CN"/>
              <a:t>cuDF</a:t>
            </a:r>
            <a:r>
              <a:rPr lang="zh-CN" altLang="en-US"/>
              <a:t>、</a:t>
            </a:r>
            <a:r>
              <a:rPr lang="en-US" altLang="zh-CN"/>
              <a:t>RAPIDS</a:t>
            </a:r>
            <a:r>
              <a:rPr lang="zh-CN" altLang="en-US"/>
              <a:t>、</a:t>
            </a:r>
            <a:r>
              <a:rPr lang="en-US" altLang="zh-CN"/>
              <a:t>cudaDMA</a:t>
            </a:r>
            <a:r>
              <a:rPr lang="zh-CN" altLang="en-US"/>
              <a:t>）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设计：加入</a:t>
            </a:r>
            <a:r>
              <a:rPr lang="en-US" altLang="zh-CN"/>
              <a:t>hash</a:t>
            </a:r>
            <a:r>
              <a:rPr lang="zh-CN" altLang="en-US"/>
              <a:t>或者纯随机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Non-PT</a:t>
            </a:r>
            <a:r>
              <a:rPr lang="zh-CN" altLang="en-US"/>
              <a:t>：</a:t>
            </a:r>
            <a:r>
              <a:rPr lang="en-US" altLang="zh-CN"/>
              <a:t>Block</a:t>
            </a:r>
            <a:r>
              <a:rPr lang="zh-CN" altLang="en-US"/>
              <a:t>定义从软件任务量出发，纯粹由硬件调度。</a:t>
            </a:r>
            <a:endParaRPr lang="zh-CN" altLang="en-US"/>
          </a:p>
          <a:p>
            <a:r>
              <a:rPr lang="en-US" altLang="zh-CN"/>
              <a:t>PT</a:t>
            </a:r>
            <a:r>
              <a:rPr lang="zh-CN" altLang="en-US"/>
              <a:t>：</a:t>
            </a:r>
            <a:r>
              <a:rPr lang="en-US" altLang="zh-CN"/>
              <a:t>Block</a:t>
            </a:r>
            <a:r>
              <a:rPr lang="zh-CN" altLang="en-US"/>
              <a:t>定义从硬件并发能力出发，可以由软件控制调度。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副标题 21505"/>
          <p:cNvSpPr>
            <a:spLocks noGrp="1"/>
          </p:cNvSpPr>
          <p:nvPr>
            <p:ph type="subTitle" idx="1"/>
          </p:nvPr>
        </p:nvSpPr>
        <p:spPr>
          <a:xfrm>
            <a:off x="1550988" y="4038600"/>
            <a:ext cx="8423275" cy="711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1pPr>
            <a:lvl2pPr marL="457200" lvl="1" indent="0" algn="ctr">
              <a:buClr>
                <a:srgbClr val="000000"/>
              </a:buClr>
              <a:buSzTx/>
              <a:buFontTx/>
              <a:buNone/>
              <a:defRPr>
                <a:solidFill>
                  <a:schemeClr val="bg1"/>
                </a:solidFill>
              </a:defRPr>
            </a:lvl2pPr>
            <a:lvl3pPr marL="914400" lvl="2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3pPr>
            <a:lvl4pPr marL="1371600" lvl="3" indent="0" algn="ctr">
              <a:buClr>
                <a:srgbClr val="000000"/>
              </a:buClr>
              <a:buSzTx/>
              <a:buFontTx/>
              <a:buNone/>
              <a:defRPr>
                <a:solidFill>
                  <a:schemeClr val="bg1"/>
                </a:solidFill>
              </a:defRPr>
            </a:lvl4pPr>
            <a:lvl5pPr marL="1828800" lvl="4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1510" name="标题 21509"/>
          <p:cNvSpPr>
            <a:spLocks noGrp="1"/>
          </p:cNvSpPr>
          <p:nvPr>
            <p:ph type="ctrTitle" sz="quarter"/>
          </p:nvPr>
        </p:nvSpPr>
        <p:spPr>
          <a:xfrm>
            <a:off x="1095375" y="1524000"/>
            <a:ext cx="9302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ctr">
              <a:defRPr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1507" name="日期占位符 21506"/>
          <p:cNvSpPr>
            <a:spLocks noGrp="1"/>
          </p:cNvSpPr>
          <p:nvPr>
            <p:ph type="dt" sz="quarter" idx="2"/>
          </p:nvPr>
        </p:nvSpPr>
        <p:spPr>
          <a:xfrm>
            <a:off x="3192463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21508" name="页脚占位符 21507"/>
          <p:cNvSpPr>
            <a:spLocks noGrp="1"/>
          </p:cNvSpPr>
          <p:nvPr>
            <p:ph type="ftr" sz="quarter" idx="3"/>
          </p:nvPr>
        </p:nvSpPr>
        <p:spPr>
          <a:xfrm>
            <a:off x="6219825" y="6553200"/>
            <a:ext cx="392588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21509" name="灯片编号占位符 21508"/>
          <p:cNvSpPr>
            <a:spLocks noGrp="1"/>
          </p:cNvSpPr>
          <p:nvPr>
            <p:ph type="sldNum" sz="quarter" idx="4"/>
          </p:nvPr>
        </p:nvSpPr>
        <p:spPr>
          <a:xfrm>
            <a:off x="12700" y="6359525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845" y="1709738"/>
            <a:ext cx="9441037" cy="2852737"/>
          </a:xfrm>
        </p:spPr>
        <p:txBody>
          <a:bodyPr anchor="b"/>
          <a:lstStyle>
            <a:lvl1pPr>
              <a:defRPr sz="5385"/>
            </a:lvl1pPr>
          </a:lstStyle>
          <a:p>
            <a:pPr fontAlgn="base"/>
            <a:r>
              <a:rPr lang="zh-CN" altLang="en-US" sz="53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6845" y="4589463"/>
            <a:ext cx="9441037" cy="1500187"/>
          </a:xfrm>
        </p:spPr>
        <p:txBody>
          <a:bodyPr/>
          <a:lstStyle>
            <a:lvl1pPr marL="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1pPr>
            <a:lvl2pPr marL="41021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821055" indent="0">
              <a:buNone/>
              <a:defRPr sz="1615">
                <a:solidFill>
                  <a:schemeClr val="tx1">
                    <a:tint val="75000"/>
                  </a:schemeClr>
                </a:solidFill>
              </a:defRPr>
            </a:lvl3pPr>
            <a:lvl4pPr marL="123126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4pPr>
            <a:lvl5pPr marL="1642110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5pPr>
            <a:lvl6pPr marL="2052320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6pPr>
            <a:lvl7pPr marL="246316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7pPr>
            <a:lvl8pPr marL="287337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8pPr>
            <a:lvl9pPr marL="328358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21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9150" y="1697038"/>
            <a:ext cx="4692142" cy="41798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02808" y="1697038"/>
            <a:ext cx="4692142" cy="41798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365125"/>
            <a:ext cx="9441037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5501" y="1778438"/>
            <a:ext cx="4375556" cy="823912"/>
          </a:xfrm>
        </p:spPr>
        <p:txBody>
          <a:bodyPr anchor="ctr" anchorCtr="0"/>
          <a:lstStyle>
            <a:lvl1pPr marL="0" indent="0">
              <a:buNone/>
              <a:defRPr sz="2515"/>
            </a:lvl1pPr>
            <a:lvl2pPr marL="410210" indent="0">
              <a:buNone/>
              <a:defRPr sz="2155"/>
            </a:lvl2pPr>
            <a:lvl3pPr marL="821055" indent="0">
              <a:buNone/>
              <a:defRPr sz="1795"/>
            </a:lvl3pPr>
            <a:lvl4pPr marL="1231265" indent="0">
              <a:buNone/>
              <a:defRPr sz="1615"/>
            </a:lvl4pPr>
            <a:lvl5pPr marL="1642110" indent="0">
              <a:buNone/>
              <a:defRPr sz="1615"/>
            </a:lvl5pPr>
            <a:lvl6pPr marL="2052320" indent="0">
              <a:buNone/>
              <a:defRPr sz="1615"/>
            </a:lvl6pPr>
            <a:lvl7pPr marL="2463165" indent="0">
              <a:buNone/>
              <a:defRPr sz="1615"/>
            </a:lvl7pPr>
            <a:lvl8pPr marL="2873375" indent="0">
              <a:buNone/>
              <a:defRPr sz="1615"/>
            </a:lvl8pPr>
            <a:lvl9pPr marL="3283585" indent="0">
              <a:buNone/>
              <a:defRPr sz="1615"/>
            </a:lvl9pPr>
          </a:lstStyle>
          <a:p>
            <a:pPr lvl="0" fontAlgn="base"/>
            <a:r>
              <a:rPr lang="zh-CN" altLang="en-US" sz="25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65501" y="2665379"/>
            <a:ext cx="437555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17557" y="1778438"/>
            <a:ext cx="4397105" cy="823912"/>
          </a:xfrm>
        </p:spPr>
        <p:txBody>
          <a:bodyPr anchor="ctr" anchorCtr="0"/>
          <a:lstStyle>
            <a:lvl1pPr marL="0" indent="0">
              <a:buNone/>
              <a:defRPr sz="2515"/>
            </a:lvl1pPr>
            <a:lvl2pPr marL="410210" indent="0">
              <a:buNone/>
              <a:defRPr sz="2155"/>
            </a:lvl2pPr>
            <a:lvl3pPr marL="821055" indent="0">
              <a:buNone/>
              <a:defRPr sz="1795"/>
            </a:lvl3pPr>
            <a:lvl4pPr marL="1231265" indent="0">
              <a:buNone/>
              <a:defRPr sz="1615"/>
            </a:lvl4pPr>
            <a:lvl5pPr marL="1642110" indent="0">
              <a:buNone/>
              <a:defRPr sz="1615"/>
            </a:lvl5pPr>
            <a:lvl6pPr marL="2052320" indent="0">
              <a:buNone/>
              <a:defRPr sz="1615"/>
            </a:lvl6pPr>
            <a:lvl7pPr marL="2463165" indent="0">
              <a:buNone/>
              <a:defRPr sz="1615"/>
            </a:lvl7pPr>
            <a:lvl8pPr marL="2873375" indent="0">
              <a:buNone/>
              <a:defRPr sz="1615"/>
            </a:lvl8pPr>
            <a:lvl9pPr marL="3283585" indent="0">
              <a:buNone/>
              <a:defRPr sz="1615"/>
            </a:lvl9pPr>
          </a:lstStyle>
          <a:p>
            <a:pPr lvl="0" fontAlgn="base"/>
            <a:r>
              <a:rPr lang="zh-CN" altLang="en-US" sz="25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17557" y="2665379"/>
            <a:ext cx="439710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457200"/>
            <a:ext cx="3530412" cy="1600200"/>
          </a:xfrm>
        </p:spPr>
        <p:txBody>
          <a:bodyPr anchor="b"/>
          <a:lstStyle>
            <a:lvl1pPr>
              <a:defRPr sz="2875"/>
            </a:lvl1pPr>
          </a:lstStyle>
          <a:p>
            <a:pPr fontAlgn="base"/>
            <a:r>
              <a:rPr lang="zh-CN" altLang="en-US" sz="28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3531" y="987425"/>
            <a:ext cx="5541478" cy="4873625"/>
          </a:xfrm>
        </p:spPr>
        <p:txBody>
          <a:bodyPr/>
          <a:lstStyle>
            <a:lvl1pPr>
              <a:defRPr sz="2875"/>
            </a:lvl1pPr>
            <a:lvl2pPr>
              <a:defRPr sz="2515"/>
            </a:lvl2pPr>
            <a:lvl3pPr>
              <a:defRPr sz="215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 fontAlgn="base"/>
            <a:r>
              <a:rPr lang="zh-CN" altLang="en-US" sz="287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51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215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79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79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972" y="2057400"/>
            <a:ext cx="3530412" cy="3811588"/>
          </a:xfrm>
        </p:spPr>
        <p:txBody>
          <a:bodyPr/>
          <a:lstStyle>
            <a:lvl1pPr marL="0" indent="0">
              <a:buNone/>
              <a:defRPr sz="1435"/>
            </a:lvl1pPr>
            <a:lvl2pPr marL="410210" indent="0">
              <a:buNone/>
              <a:defRPr sz="1255"/>
            </a:lvl2pPr>
            <a:lvl3pPr marL="821055" indent="0">
              <a:buNone/>
              <a:defRPr sz="1075"/>
            </a:lvl3pPr>
            <a:lvl4pPr marL="1231265" indent="0">
              <a:buNone/>
              <a:defRPr sz="900"/>
            </a:lvl4pPr>
            <a:lvl5pPr marL="1642110" indent="0">
              <a:buNone/>
              <a:defRPr sz="900"/>
            </a:lvl5pPr>
            <a:lvl6pPr marL="2052320" indent="0">
              <a:buNone/>
              <a:defRPr sz="900"/>
            </a:lvl6pPr>
            <a:lvl7pPr marL="2463165" indent="0">
              <a:buNone/>
              <a:defRPr sz="900"/>
            </a:lvl7pPr>
            <a:lvl8pPr marL="2873375" indent="0">
              <a:buNone/>
              <a:defRPr sz="900"/>
            </a:lvl8pPr>
            <a:lvl9pPr marL="3283585" indent="0">
              <a:buNone/>
              <a:defRPr sz="900"/>
            </a:lvl9pPr>
          </a:lstStyle>
          <a:p>
            <a:pPr lvl="0" fontAlgn="base"/>
            <a:r>
              <a:rPr lang="zh-CN" altLang="en-US" sz="143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457200"/>
            <a:ext cx="3739702" cy="1600200"/>
          </a:xfrm>
        </p:spPr>
        <p:txBody>
          <a:bodyPr anchor="b"/>
          <a:lstStyle>
            <a:lvl1pPr>
              <a:defRPr sz="2875"/>
            </a:lvl1pPr>
          </a:lstStyle>
          <a:p>
            <a:pPr fontAlgn="base"/>
            <a:r>
              <a:rPr lang="zh-CN" altLang="en-US" sz="28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3531" y="457201"/>
            <a:ext cx="5541478" cy="5403850"/>
          </a:xfrm>
        </p:spPr>
        <p:txBody>
          <a:bodyPr/>
          <a:lstStyle>
            <a:lvl1pPr marL="0" indent="0">
              <a:buNone/>
              <a:defRPr sz="2875"/>
            </a:lvl1pPr>
            <a:lvl2pPr marL="410210" indent="0">
              <a:buNone/>
              <a:defRPr sz="2515"/>
            </a:lvl2pPr>
            <a:lvl3pPr marL="821055" indent="0">
              <a:buNone/>
              <a:defRPr sz="2155"/>
            </a:lvl3pPr>
            <a:lvl4pPr marL="1231265" indent="0">
              <a:buNone/>
              <a:defRPr sz="1795"/>
            </a:lvl4pPr>
            <a:lvl5pPr marL="1642110" indent="0">
              <a:buNone/>
              <a:defRPr sz="1795"/>
            </a:lvl5pPr>
            <a:lvl6pPr marL="2052320" indent="0">
              <a:buNone/>
              <a:defRPr sz="1795"/>
            </a:lvl6pPr>
            <a:lvl7pPr marL="2463165" indent="0">
              <a:buNone/>
              <a:defRPr sz="1795"/>
            </a:lvl7pPr>
            <a:lvl8pPr marL="2873375" indent="0">
              <a:buNone/>
              <a:defRPr sz="1795"/>
            </a:lvl8pPr>
            <a:lvl9pPr marL="3283585" indent="0">
              <a:buNone/>
              <a:defRPr sz="179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972" y="2057400"/>
            <a:ext cx="3739702" cy="3811588"/>
          </a:xfrm>
        </p:spPr>
        <p:txBody>
          <a:bodyPr/>
          <a:lstStyle>
            <a:lvl1pPr marL="0" indent="0">
              <a:buNone/>
              <a:defRPr sz="1795"/>
            </a:lvl1pPr>
            <a:lvl2pPr marL="410210" indent="0">
              <a:buNone/>
              <a:defRPr sz="1615"/>
            </a:lvl2pPr>
            <a:lvl3pPr marL="821055" indent="0">
              <a:buNone/>
              <a:defRPr sz="1435"/>
            </a:lvl3pPr>
            <a:lvl4pPr marL="1231265" indent="0">
              <a:buNone/>
              <a:defRPr sz="1255"/>
            </a:lvl4pPr>
            <a:lvl5pPr marL="1642110" indent="0">
              <a:buNone/>
              <a:defRPr sz="1255"/>
            </a:lvl5pPr>
            <a:lvl6pPr marL="2052320" indent="0">
              <a:buNone/>
              <a:defRPr sz="1255"/>
            </a:lvl6pPr>
            <a:lvl7pPr marL="2463165" indent="0">
              <a:buNone/>
              <a:defRPr sz="1255"/>
            </a:lvl7pPr>
            <a:lvl8pPr marL="2873375" indent="0">
              <a:buNone/>
              <a:defRPr sz="1255"/>
            </a:lvl8pPr>
            <a:lvl9pPr marL="3283585" indent="0">
              <a:buNone/>
              <a:defRPr sz="1255"/>
            </a:lvl9pPr>
          </a:lstStyle>
          <a:p>
            <a:pPr lvl="0" fontAlgn="base"/>
            <a:r>
              <a:rPr lang="zh-CN" altLang="en-US" sz="179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001000" y="53975"/>
            <a:ext cx="2393950" cy="582295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9150" y="53975"/>
            <a:ext cx="7043070" cy="5822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2546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41478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2546" y="1825625"/>
            <a:ext cx="9441037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2546" y="4076700"/>
            <a:ext cx="9441037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2546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41478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z="2600" strike="noStrike" noProof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cs typeface="+mn-ea"/>
              </a:rPr>
            </a:fld>
            <a:endParaRPr lang="zh-CN" altLang="en-US" sz="2600" strike="noStrike" noProof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1268413"/>
            <a:ext cx="8597900" cy="1905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095" tIns="41047" rIns="82095" bIns="4104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15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14891" y="634678"/>
            <a:ext cx="10602548" cy="562074"/>
          </a:xfrm>
          <a:prstGeom prst="rect">
            <a:avLst/>
          </a:prstGeom>
        </p:spPr>
        <p:txBody>
          <a:bodyPr/>
          <a:lstStyle>
            <a:lvl1pPr algn="l">
              <a:defRPr sz="2875" spc="100" baseline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defRPr>
            </a:lvl1pPr>
          </a:lstStyle>
          <a:p>
            <a:pPr fontAlgn="base"/>
            <a:r>
              <a:rPr lang="zh-CN" altLang="en-US" sz="28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直线"/>
          <p:cNvSpPr/>
          <p:nvPr/>
        </p:nvSpPr>
        <p:spPr>
          <a:xfrm>
            <a:off x="455613" y="1096963"/>
            <a:ext cx="10034587" cy="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0" name="文本框"/>
          <p:cNvSpPr>
            <a:spLocks noGrp="1"/>
          </p:cNvSpPr>
          <p:nvPr>
            <p:ph type="title"/>
          </p:nvPr>
        </p:nvSpPr>
        <p:spPr>
          <a:xfrm>
            <a:off x="820960" y="182563"/>
            <a:ext cx="9328916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121" name="文本框"/>
          <p:cNvSpPr>
            <a:spLocks noGrp="1"/>
          </p:cNvSpPr>
          <p:nvPr>
            <p:ph type="body" idx="1"/>
          </p:nvPr>
        </p:nvSpPr>
        <p:spPr>
          <a:xfrm>
            <a:off x="820960" y="1676400"/>
            <a:ext cx="9304211" cy="4495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fontAlgn="base"/>
            <a:r>
              <a:rPr lang="en-US" altLang="zh-CN" strike="noStrike" noProof="1"/>
              <a:t>Click to 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122" name="文本框"/>
          <p:cNvSpPr>
            <a:spLocks noGrp="1"/>
          </p:cNvSpPr>
          <p:nvPr>
            <p:ph type="dt" idx="10"/>
          </p:nvPr>
        </p:nvSpPr>
        <p:spPr>
          <a:xfrm>
            <a:off x="820738" y="6324600"/>
            <a:ext cx="2281238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fontAlgn="base"/>
            <a:endParaRPr lang="zh-CN" altLang="en-US" sz="1300" strike="noStrike" noProof="1">
              <a:latin typeface="Tahoma" panose="020B060403050404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3" name="文本框"/>
          <p:cNvSpPr>
            <a:spLocks noGrp="1"/>
          </p:cNvSpPr>
          <p:nvPr>
            <p:ph type="ftr"/>
          </p:nvPr>
        </p:nvSpPr>
        <p:spPr>
          <a:xfrm>
            <a:off x="3740150" y="6324600"/>
            <a:ext cx="3465513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 fontAlgn="base"/>
            <a:endParaRPr lang="zh-CN" altLang="en-US" sz="1300" strike="noStrike" noProof="1">
              <a:latin typeface="Tahoma" panose="020B060403050404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4" name="文本框"/>
          <p:cNvSpPr>
            <a:spLocks noGrp="1"/>
          </p:cNvSpPr>
          <p:nvPr>
            <p:ph type="sldNum"/>
          </p:nvPr>
        </p:nvSpPr>
        <p:spPr>
          <a:xfrm>
            <a:off x="8424863" y="6324600"/>
            <a:ext cx="227965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r" fontAlgn="base"/>
            <a:fld id="{CAD2D6BD-DE1B-4B5F-8B41-2702339687B9}" type="slidenum">
              <a:rPr lang="en-US" altLang="zh-CN" sz="1300" b="0" i="0" u="none" strike="noStrike" kern="1200" cap="none" spc="0" baseline="0" noProof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300" strike="noStrike" noProof="1">
              <a:latin typeface="Tahoma" panose="020B060403050404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47" b="38399"/>
          <a:stretch>
            <a:fillRect/>
          </a:stretch>
        </p:blipFill>
        <p:spPr>
          <a:xfrm flipH="1">
            <a:off x="8319059" y="2963712"/>
            <a:ext cx="2627071" cy="38942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8" t="29135"/>
          <a:stretch>
            <a:fillRect/>
          </a:stretch>
        </p:blipFill>
        <p:spPr>
          <a:xfrm>
            <a:off x="0" y="0"/>
            <a:ext cx="1942186" cy="1865572"/>
          </a:xfrm>
          <a:prstGeom prst="rect">
            <a:avLst/>
          </a:prstGeom>
        </p:spPr>
      </p:pic>
      <p:sp>
        <p:nvSpPr>
          <p:cNvPr id="11" name="矩形: 圆顶角 10"/>
          <p:cNvSpPr/>
          <p:nvPr userDrawn="1"/>
        </p:nvSpPr>
        <p:spPr>
          <a:xfrm>
            <a:off x="278524" y="6812281"/>
            <a:ext cx="10389082" cy="45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A171D"/>
          </a:solidFill>
          <a:ln w="12700" cap="flat" cmpd="sng" algn="ctr">
            <a:noFill/>
            <a:prstDash val="solid"/>
            <a:miter lim="800000"/>
          </a:ln>
          <a:effectLst>
            <a:outerShdw blurRad="723900" sx="102000" sy="102000" algn="ctr" rotWithShape="0">
              <a:srgbClr val="EDA94D">
                <a:alpha val="2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1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charset="-122"/>
              <a:ea typeface="阿里巴巴普惠体 R" charset="-122"/>
              <a:cs typeface="+mn-cs"/>
            </a:endParaRPr>
          </a:p>
        </p:txBody>
      </p:sp>
      <p:pic>
        <p:nvPicPr>
          <p:cNvPr id="5" name="图形 4" descr="处理器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992" y="301625"/>
            <a:ext cx="513101" cy="571501"/>
          </a:xfrm>
          <a:prstGeom prst="rect">
            <a:avLst/>
          </a:prstGeom>
        </p:spPr>
      </p:pic>
      <p:pic>
        <p:nvPicPr>
          <p:cNvPr id="6" name="图片 5" descr="图片包含 游戏机, 物体, 盘子, 钟表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376" y="497961"/>
            <a:ext cx="885230" cy="268371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970614" y="397785"/>
            <a:ext cx="8238076" cy="454025"/>
          </a:xfrm>
        </p:spPr>
        <p:txBody>
          <a:bodyPr>
            <a:noAutofit/>
          </a:bodyPr>
          <a:lstStyle>
            <a:lvl1pPr>
              <a:buNone/>
              <a:defRPr sz="2155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请在此输入标题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2048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0482"/>
          <p:cNvSpPr>
            <a:spLocks noGrp="1"/>
          </p:cNvSpPr>
          <p:nvPr>
            <p:ph type="body"/>
          </p:nvPr>
        </p:nvSpPr>
        <p:spPr>
          <a:xfrm>
            <a:off x="819150" y="1697038"/>
            <a:ext cx="9575800" cy="417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484" name="日期占位符 20483"/>
          <p:cNvSpPr>
            <a:spLocks noGrp="1"/>
          </p:cNvSpPr>
          <p:nvPr>
            <p:ph type="dt" sz="half" idx="2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20485" name="页脚占位符 20484"/>
          <p:cNvSpPr>
            <a:spLocks noGrp="1"/>
          </p:cNvSpPr>
          <p:nvPr>
            <p:ph type="ftr" sz="quarter" idx="3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ctr">
              <a:defRPr sz="1400" b="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20486" name="灯片编号占位符 20485"/>
          <p:cNvSpPr>
            <a:spLocks noGrp="1"/>
          </p:cNvSpPr>
          <p:nvPr>
            <p:ph type="sldNum" sz="quarter" idx="4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2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Tx/>
        <a:buChar char="–"/>
        <a:defRPr sz="24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20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Tx/>
        <a:buChar char="–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2049"/>
          <p:cNvSpPr>
            <a:spLocks noGrp="1"/>
          </p:cNvSpPr>
          <p:nvPr>
            <p:ph type="ctrTitle" sz="quarter"/>
          </p:nvPr>
        </p:nvSpPr>
        <p:spPr>
          <a:xfrm>
            <a:off x="1095375" y="1811020"/>
            <a:ext cx="9302750" cy="1143000"/>
          </a:xfrm>
        </p:spPr>
        <p:txBody>
          <a:bodyPr anchor="ctr" anchorCtr="0"/>
          <a:lstStyle/>
          <a:p>
            <a:pPr defTabSz="914400">
              <a:buClrTx/>
              <a:buNone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通用图形处理器的并发优化研究</a:t>
            </a:r>
            <a:endParaRPr lang="zh-CN" altLang="en-US" kern="1200" baseline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6144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提纲</a:t>
            </a:r>
            <a:endParaRPr lang="zh-CN" altLang="en-US"/>
          </a:p>
        </p:txBody>
      </p:sp>
      <p:sp>
        <p:nvSpPr>
          <p:cNvPr id="61443" name="文本占位符 61442"/>
          <p:cNvSpPr>
            <a:spLocks noGrp="1"/>
          </p:cNvSpPr>
          <p:nvPr>
            <p:ph idx="1"/>
          </p:nvPr>
        </p:nvSpPr>
        <p:spPr>
          <a:xfrm>
            <a:off x="819150" y="1697038"/>
            <a:ext cx="4941776" cy="2884042"/>
          </a:xfrm>
        </p:spPr>
        <p:txBody>
          <a:bodyPr/>
          <a:lstStyle/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>
                <a:latin typeface="+mn-lt"/>
                <a:ea typeface="+mn-ea"/>
                <a:cs typeface="+mn-cs"/>
              </a:rPr>
              <a:t>一、论文背景</a:t>
            </a:r>
            <a:endParaRPr kumimoji="0" lang="en-US" altLang="zh-CN" sz="2800" b="1" i="0" u="none" strike="noStrike" kern="1200" cap="none" spc="0" normalizeH="0" baseline="0" noProof="1">
              <a:latin typeface="+mn-lt"/>
              <a:ea typeface="+mn-ea"/>
              <a:cs typeface="+mn-cs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二、相关工作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三、论文进展情况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四、</a:t>
            </a:r>
            <a:r>
              <a:rPr lang="zh-CN" altLang="en-US" noProof="1"/>
              <a:t>已有研究成果</a:t>
            </a:r>
            <a:endParaRPr lang="zh-CN" altLang="en-US" noProof="1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五、论文写作分享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46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545" y="1268850"/>
            <a:ext cx="5544385" cy="507877"/>
          </a:xfrm>
        </p:spPr>
        <p:txBody>
          <a:bodyPr/>
          <a:lstStyle/>
          <a:p>
            <a:r>
              <a:rPr lang="en-US" altLang="zh-CN"/>
              <a:t>GPGPU (SIMT</a:t>
            </a:r>
            <a:r>
              <a:rPr lang="zh-CN" altLang="en-US"/>
              <a:t>架构</a:t>
            </a:r>
            <a:r>
              <a:rPr lang="en-US" altLang="zh-CN"/>
              <a:t>) </a:t>
            </a:r>
            <a:r>
              <a:rPr lang="zh-CN" altLang="en-US"/>
              <a:t>的优势</a:t>
            </a:r>
            <a:endParaRPr lang="en-US" altLang="zh-CN"/>
          </a:p>
        </p:txBody>
      </p:sp>
      <p:sp>
        <p:nvSpPr>
          <p:cNvPr id="4" name="AutoShape 4" descr="Untitled"/>
          <p:cNvSpPr>
            <a:spLocks noChangeAspect="1" noChangeArrowheads="1"/>
          </p:cNvSpPr>
          <p:nvPr/>
        </p:nvSpPr>
        <p:spPr bwMode="auto">
          <a:xfrm>
            <a:off x="5648334" y="38123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591" y="2060905"/>
            <a:ext cx="3528245" cy="4319224"/>
          </a:xfrm>
          <a:prstGeom prst="rect">
            <a:avLst/>
          </a:prstGeom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076446" y="1598241"/>
            <a:ext cx="5184360" cy="4428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降低编程门槛</a:t>
            </a:r>
            <a:br>
              <a:rPr lang="en-US" altLang="zh-CN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自适应并行规模</a:t>
            </a:r>
            <a:b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无需将数据凑成矢量长度</a:t>
            </a:r>
            <a:b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无需软件流水编排</a:t>
            </a:r>
            <a:endParaRPr lang="en-US" altLang="zh-CN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提高通用计算兼容性</a:t>
            </a:r>
            <a:br>
              <a:rPr lang="en-US" altLang="zh-CN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接入成熟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</a:t>
            </a:r>
            <a:b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支持通用并行算法（图像处理，物理模拟）</a:t>
            </a:r>
            <a:endParaRPr lang="en-US" altLang="zh-CN" sz="160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硬件调度支持</a:t>
            </a:r>
            <a:br>
              <a:rPr lang="en-US" altLang="zh-CN" sz="20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动态调度</a:t>
            </a:r>
            <a:r>
              <a:rPr lang="en-US" altLang="zh-CN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分支分歧处理</a:t>
            </a:r>
            <a:br>
              <a:rPr lang="en-US" altLang="zh-CN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细粒度多线程隐藏延迟</a:t>
            </a:r>
            <a:endParaRPr lang="en-US" altLang="zh-CN" sz="2800" ker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46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546" y="1268850"/>
            <a:ext cx="8208570" cy="507877"/>
          </a:xfrm>
        </p:spPr>
        <p:txBody>
          <a:bodyPr/>
          <a:lstStyle/>
          <a:p>
            <a:r>
              <a:rPr lang="en-US" altLang="zh-CN"/>
              <a:t>SIMT</a:t>
            </a:r>
            <a:r>
              <a:rPr lang="zh-CN" altLang="en-US"/>
              <a:t>架构所面临的问题</a:t>
            </a:r>
            <a:r>
              <a:rPr lang="en-US" altLang="zh-CN"/>
              <a:t>——</a:t>
            </a:r>
            <a:r>
              <a:rPr lang="zh-CN" altLang="en-US"/>
              <a:t>激增的</a:t>
            </a:r>
            <a:r>
              <a:rPr lang="en-US" altLang="zh-CN"/>
              <a:t>AI</a:t>
            </a:r>
            <a:r>
              <a:rPr lang="zh-CN" altLang="en-US"/>
              <a:t>任务量</a:t>
            </a:r>
            <a:endParaRPr lang="en-US" altLang="zh-CN"/>
          </a:p>
        </p:txBody>
      </p:sp>
      <p:sp>
        <p:nvSpPr>
          <p:cNvPr id="4" name="AutoShape 4" descr="Untitled"/>
          <p:cNvSpPr>
            <a:spLocks noChangeAspect="1" noChangeArrowheads="1"/>
          </p:cNvSpPr>
          <p:nvPr/>
        </p:nvSpPr>
        <p:spPr bwMode="auto">
          <a:xfrm>
            <a:off x="5648334" y="38123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33877" y="2271303"/>
            <a:ext cx="4033461" cy="45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黑体" panose="0201060906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图形渲染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高性能计算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AI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en-US" altLang="zh-CN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60676" y="2671856"/>
            <a:ext cx="4033461" cy="45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黑体" panose="0201060906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  <a:latin typeface="+mn-lt"/>
                <a:ea typeface="+mn-ea"/>
              </a:rPr>
              <a:t>数据量与算力需求↑↑</a:t>
            </a:r>
            <a:endParaRPr lang="en-US" altLang="zh-CN" sz="1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336966" y="5229125"/>
            <a:ext cx="3609600" cy="75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黑体" panose="0201060906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latin typeface="+mn-lt"/>
                <a:ea typeface="+mn-ea"/>
              </a:rPr>
              <a:t>随着算力激增，</a:t>
            </a:r>
            <a:r>
              <a:rPr lang="en-US" altLang="zh-CN" sz="1400">
                <a:solidFill>
                  <a:schemeClr val="tx1"/>
                </a:solidFill>
                <a:latin typeface="+mn-lt"/>
                <a:ea typeface="+mn-ea"/>
              </a:rPr>
              <a:t>GPU</a:t>
            </a:r>
            <a:r>
              <a:rPr lang="zh-CN" altLang="en-US" sz="1400">
                <a:solidFill>
                  <a:schemeClr val="tx1"/>
                </a:solidFill>
                <a:latin typeface="+mn-lt"/>
                <a:ea typeface="+mn-ea"/>
              </a:rPr>
              <a:t>内部的并行度也在提高。</a:t>
            </a:r>
            <a:br>
              <a:rPr lang="en-US" altLang="zh-CN" sz="1400">
                <a:solidFill>
                  <a:schemeClr val="tx1"/>
                </a:solidFill>
                <a:latin typeface="+mn-lt"/>
                <a:ea typeface="+mn-ea"/>
              </a:rPr>
            </a:br>
            <a:r>
              <a:rPr lang="zh-CN" altLang="en-US" sz="1400" b="1">
                <a:solidFill>
                  <a:schemeClr val="tx1"/>
                </a:solidFill>
                <a:latin typeface="+mn-lt"/>
                <a:ea typeface="+mn-ea"/>
              </a:rPr>
              <a:t>如何有效</a:t>
            </a:r>
            <a:r>
              <a:rPr lang="zh-CN" altLang="en-US" sz="1400">
                <a:solidFill>
                  <a:schemeClr val="tx1"/>
                </a:solidFill>
                <a:latin typeface="+mn-lt"/>
                <a:ea typeface="+mn-ea"/>
              </a:rPr>
              <a:t>管理</a:t>
            </a:r>
            <a:r>
              <a:rPr lang="zh-CN" altLang="en-US" sz="1400" b="1">
                <a:solidFill>
                  <a:schemeClr val="tx1"/>
                </a:solidFill>
                <a:latin typeface="+mn-lt"/>
                <a:ea typeface="+mn-ea"/>
              </a:rPr>
              <a:t>数以万计的</a:t>
            </a:r>
            <a:r>
              <a:rPr lang="en-US" altLang="zh-CN" sz="1400" b="1">
                <a:solidFill>
                  <a:schemeClr val="tx1"/>
                </a:solidFill>
                <a:latin typeface="+mn-lt"/>
                <a:ea typeface="+mn-ea"/>
              </a:rPr>
              <a:t>thread</a:t>
            </a:r>
            <a:r>
              <a:rPr lang="zh-CN" altLang="en-US" sz="1400" b="1">
                <a:solidFill>
                  <a:schemeClr val="tx1"/>
                </a:solidFill>
                <a:latin typeface="+mn-lt"/>
                <a:ea typeface="+mn-ea"/>
              </a:rPr>
              <a:t>及其任务？</a:t>
            </a:r>
            <a:endParaRPr lang="en-US" altLang="zh-CN" sz="140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8" name="图片 7" descr="图表&#10;&#10;描述已自动生成"/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946" y="1916895"/>
            <a:ext cx="4102258" cy="2976806"/>
          </a:xfrm>
          <a:prstGeom prst="rect">
            <a:avLst/>
          </a:prstGeom>
        </p:spPr>
      </p:pic>
      <p:graphicFrame>
        <p:nvGraphicFramePr>
          <p:cNvPr id="11" name="图表 10"/>
          <p:cNvGraphicFramePr/>
          <p:nvPr/>
        </p:nvGraphicFramePr>
        <p:xfrm>
          <a:off x="819150" y="32291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46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545" y="1268850"/>
            <a:ext cx="5544385" cy="507877"/>
          </a:xfrm>
        </p:spPr>
        <p:txBody>
          <a:bodyPr/>
          <a:lstStyle/>
          <a:p>
            <a:r>
              <a:rPr lang="zh-CN" altLang="en-US"/>
              <a:t>单</a:t>
            </a:r>
            <a:r>
              <a:rPr lang="en-US" altLang="zh-CN"/>
              <a:t>GPU</a:t>
            </a:r>
            <a:r>
              <a:rPr lang="zh-CN" altLang="en-US"/>
              <a:t>性能依旧重要</a:t>
            </a:r>
            <a:endParaRPr lang="en-US" altLang="zh-CN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6541" y="2204915"/>
            <a:ext cx="5868841" cy="2812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在多卡互联场景下，</a:t>
            </a:r>
            <a:r>
              <a:rPr lang="en-US" altLang="zh-CN" sz="2000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2000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执行效率依旧重要</a:t>
            </a:r>
            <a:br>
              <a:rPr lang="en-US" altLang="zh-CN" sz="2000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加速计算以间接缓解通信瓶颈</a:t>
            </a:r>
            <a:b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（串行任务</a:t>
            </a:r>
            <a: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T_compute + T_comm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通信操作加速（</a:t>
            </a:r>
            <a:r>
              <a:rPr lang="en-GB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Amdahl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定律）</a:t>
            </a:r>
            <a:endParaRPr lang="en-US" altLang="zh-CN" sz="200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大量应用场景依旧依赖于单</a:t>
            </a:r>
            <a:r>
              <a:rPr lang="en-US" altLang="zh-CN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br>
              <a:rPr lang="en-US" altLang="zh-CN" sz="20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（边缘推理（如自动驾驶）依赖单卡低延迟响应）</a:t>
            </a:r>
            <a:endParaRPr lang="en-US" altLang="zh-CN" sz="200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622" y="1988900"/>
            <a:ext cx="5400902" cy="33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7057016" y="5301130"/>
            <a:ext cx="2808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数量时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的利用率</a:t>
            </a:r>
            <a:r>
              <a:rPr lang="zh-CN" altLang="en-US" sz="14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541" y="6309200"/>
            <a:ext cx="4968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https://juicefs.com/zh-cn/blog/engineering/juicefs-mlperf-test</a:t>
            </a:r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46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545" y="1268850"/>
            <a:ext cx="5544385" cy="507877"/>
          </a:xfrm>
        </p:spPr>
        <p:txBody>
          <a:bodyPr/>
          <a:lstStyle/>
          <a:p>
            <a:r>
              <a:rPr lang="en-US" altLang="zh-CN"/>
              <a:t>GPU</a:t>
            </a:r>
            <a:r>
              <a:rPr lang="zh-CN" altLang="en-US"/>
              <a:t>内并发优化的契机</a:t>
            </a:r>
            <a:endParaRPr lang="en-US" altLang="zh-CN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2556" y="1988900"/>
            <a:ext cx="5472380" cy="201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大量可复用的分散资源</a:t>
            </a:r>
            <a:b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 Memory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FUs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多层级调度框架以及多种类任务请求</a:t>
            </a:r>
            <a:endParaRPr lang="en-US" altLang="zh-CN" kern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硅片面积的局限性，不能无限增加资源</a:t>
            </a:r>
            <a:endParaRPr lang="en-US" altLang="zh-CN" kern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9773" b="178"/>
          <a:stretch>
            <a:fillRect/>
          </a:stretch>
        </p:blipFill>
        <p:spPr>
          <a:xfrm>
            <a:off x="6408971" y="620805"/>
            <a:ext cx="3218298" cy="5482184"/>
          </a:xfrm>
          <a:prstGeom prst="rect">
            <a:avLst/>
          </a:prstGeom>
        </p:spPr>
      </p:pic>
      <p:pic>
        <p:nvPicPr>
          <p:cNvPr id="9" name="图片 8" descr="图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61" y="4077045"/>
            <a:ext cx="3581874" cy="244813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36716" y="4293060"/>
            <a:ext cx="34438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tx1">
                    <a:lumMod val="75000"/>
                  </a:schemeClr>
                </a:solidFill>
              </a:rPr>
              <a:t>Kernel —— GPU</a:t>
            </a:r>
            <a:br>
              <a:rPr lang="en-US" altLang="zh-CN" sz="1600" b="1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1600" b="1">
                <a:solidFill>
                  <a:schemeClr val="tx1">
                    <a:lumMod val="75000"/>
                  </a:schemeClr>
                </a:solidFill>
              </a:rPr>
              <a:t>Group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</a:rPr>
              <a:t> (Block)</a:t>
            </a:r>
            <a:r>
              <a:rPr lang="en-US" altLang="zh-CN" sz="1600" b="1">
                <a:solidFill>
                  <a:schemeClr val="tx1">
                    <a:lumMod val="75000"/>
                  </a:schemeClr>
                </a:solidFill>
              </a:rPr>
              <a:t> —— SM</a:t>
            </a:r>
            <a:br>
              <a:rPr lang="en-US" altLang="zh-CN" sz="1600" b="1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1600" b="1">
                <a:solidFill>
                  <a:schemeClr val="tx1">
                    <a:lumMod val="75000"/>
                  </a:schemeClr>
                </a:solidFill>
              </a:rPr>
              <a:t>Warp(32 Threads) —— 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</a:rPr>
              <a:t>Sub-Core</a:t>
            </a:r>
            <a:r>
              <a:rPr lang="en-US" altLang="zh-CN" b="1">
                <a:solidFill>
                  <a:schemeClr val="tx1">
                    <a:lumMod val="75000"/>
                  </a:schemeClr>
                </a:solidFill>
              </a:rPr>
              <a:t> </a:t>
            </a:r>
            <a:endParaRPr lang="zh-CN" altLang="en-US" b="1">
              <a:solidFill>
                <a:schemeClr val="tx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46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545" y="1268850"/>
            <a:ext cx="5544385" cy="507877"/>
          </a:xfrm>
        </p:spPr>
        <p:txBody>
          <a:bodyPr/>
          <a:lstStyle/>
          <a:p>
            <a:r>
              <a:rPr lang="en-US" altLang="zh-CN"/>
              <a:t>GPU</a:t>
            </a:r>
            <a:r>
              <a:rPr lang="zh-CN" altLang="en-US"/>
              <a:t>内并发优化的契机</a:t>
            </a:r>
            <a:endParaRPr lang="en-US" altLang="zh-CN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2556" y="1988900"/>
            <a:ext cx="5472380" cy="201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大量可复用的分散资源</a:t>
            </a:r>
            <a:b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 Memory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FUs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多层级调度框架以及多种类任务请求</a:t>
            </a:r>
            <a:endParaRPr lang="en-US" altLang="zh-CN" kern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硅片面积的局限性，不能无限增加资源</a:t>
            </a:r>
            <a:endParaRPr lang="en-US" altLang="zh-CN" kern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9773" b="178"/>
          <a:stretch>
            <a:fillRect/>
          </a:stretch>
        </p:blipFill>
        <p:spPr>
          <a:xfrm>
            <a:off x="6408971" y="620805"/>
            <a:ext cx="3218298" cy="548218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8571" y="4221055"/>
            <a:ext cx="640844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）算力芯片的单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Die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最大尺寸无法突破先进光刻机的曝光场大小（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26x33=858mm2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）（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A100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826mm2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H100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814mm2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）工艺进度放缓</a:t>
            </a:r>
            <a:endParaRPr lang="en-US" altLang="zh-CN" sz="15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）即使增加资源，首要做的也是增加更多的</a:t>
            </a:r>
            <a:r>
              <a:rPr lang="en-US" altLang="zh-CN" sz="15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endParaRPr lang="en-US" altLang="zh-CN" sz="15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46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545" y="1268850"/>
            <a:ext cx="5544385" cy="507877"/>
          </a:xfrm>
        </p:spPr>
        <p:txBody>
          <a:bodyPr/>
          <a:lstStyle/>
          <a:p>
            <a:r>
              <a:rPr lang="en-US" altLang="zh-CN"/>
              <a:t>GPU</a:t>
            </a:r>
            <a:r>
              <a:rPr lang="zh-CN" altLang="en-US"/>
              <a:t>内并发优化的契机</a:t>
            </a:r>
            <a:endParaRPr lang="en-US" altLang="zh-CN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2556" y="1988900"/>
            <a:ext cx="5472380" cy="201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大量可复用的分散资源</a:t>
            </a:r>
            <a:b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 Memory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FUs</a:t>
            </a:r>
            <a:r>
              <a:rPr lang="zh-CN" altLang="en-US" sz="160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多层级调度框架以及多种类任务请求</a:t>
            </a:r>
            <a:endParaRPr lang="en-US" altLang="zh-CN" kern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en-US" altLang="zh-CN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kern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硅片面积的局限性，不能无限增加资源</a:t>
            </a:r>
            <a:endParaRPr lang="en-US" altLang="zh-CN" kern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9773" b="178"/>
          <a:stretch>
            <a:fillRect/>
          </a:stretch>
        </p:blipFill>
        <p:spPr>
          <a:xfrm>
            <a:off x="6408971" y="620805"/>
            <a:ext cx="3218298" cy="548218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36591" y="4149050"/>
            <a:ext cx="554438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并发优化可以分为三类工作：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）关注被执行的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任务的切分以及调度方式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）关注执行任务的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资源的共享与复用以及资源利用率的提升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）关注任务到资源的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流水线以及片上网络的优化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556" y="332785"/>
            <a:ext cx="4032280" cy="648045"/>
          </a:xfrm>
        </p:spPr>
        <p:txBody>
          <a:bodyPr/>
          <a:lstStyle/>
          <a:p>
            <a:r>
              <a:rPr lang="zh-CN" altLang="en-US"/>
              <a:t>相关工作</a:t>
            </a:r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16541" y="1196845"/>
            <a:ext cx="8784610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任务分发的相关研究</a:t>
            </a:r>
            <a:r>
              <a:rPr lang="en-US" altLang="zh-CN"/>
              <a:t>——</a:t>
            </a:r>
            <a:r>
              <a:rPr lang="zh-CN" altLang="en-US"/>
              <a:t>映射调度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60551" y="1844890"/>
            <a:ext cx="45363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0"/>
              </a:spcAft>
              <a:buFontTx/>
              <a:buChar char="-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主要目的：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个大型任务拆分，从而映射到多个硬件上，需要参考任务类型和硬件资源量以达到负载均衡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246" y="1412860"/>
            <a:ext cx="3024210" cy="27420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966" y="4221055"/>
            <a:ext cx="3600250" cy="1884913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60551" y="2924965"/>
          <a:ext cx="5400375" cy="19253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00125"/>
                <a:gridCol w="1584109"/>
                <a:gridCol w="201614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研究工作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Queue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User Queue -&gt; 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n HW Queues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QPimm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Block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Block -&gt; n SMs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AWG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GPU Navigator</a:t>
                      </a:r>
                      <a:r>
                        <a:rPr lang="zh-CN" altLang="en-US" sz="1400"/>
                        <a:t>、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BlockMaestro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Sub-core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Warp -&gt; 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n Sub-Cores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WarpMan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Hashed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Shuffle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32556" y="5013110"/>
            <a:ext cx="56163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 Scheduler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 Queue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数量远大于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HW Queue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，如何进行计算队列的管理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556" y="332785"/>
            <a:ext cx="4032280" cy="648045"/>
          </a:xfrm>
        </p:spPr>
        <p:txBody>
          <a:bodyPr/>
          <a:lstStyle/>
          <a:p>
            <a:r>
              <a:rPr lang="zh-CN" altLang="en-US"/>
              <a:t>相关工作</a:t>
            </a:r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16541" y="1196845"/>
            <a:ext cx="8784610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任务分发的相关研究</a:t>
            </a:r>
            <a:r>
              <a:rPr lang="en-US" altLang="zh-CN"/>
              <a:t>——</a:t>
            </a:r>
            <a:r>
              <a:rPr lang="zh-CN" altLang="en-US"/>
              <a:t>映射调度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60551" y="1844890"/>
            <a:ext cx="45363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0"/>
              </a:spcAft>
              <a:buFontTx/>
              <a:buChar char="-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主要目的：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个大型任务拆分，从而映射到多个硬件上，需要参考任务类型和硬件资源量以达到负载均衡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551" y="2924965"/>
          <a:ext cx="5400375" cy="19253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00125"/>
                <a:gridCol w="1584109"/>
                <a:gridCol w="201614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研究工作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Queue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User Queue -&gt; 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n HW Queues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QPimm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Block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Block -&gt; n SMs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AWG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GPU Navigator</a:t>
                      </a:r>
                      <a:r>
                        <a:rPr lang="zh-CN" altLang="en-US" sz="1400"/>
                        <a:t>、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BlockMaestro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Sub-core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Warp -&gt; 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n Sub-Cores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WarpMan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Hashed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Shuffle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32556" y="5013110"/>
            <a:ext cx="56163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 Scheduler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其负载类型不一样，如何保证运行时所有同构的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均得到有效利用？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89046" y="5013110"/>
            <a:ext cx="1800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1400"/>
              <a:t>GPU Navigator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6941" y="1988900"/>
            <a:ext cx="4619610" cy="2952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556" y="332785"/>
            <a:ext cx="4032280" cy="648045"/>
          </a:xfrm>
        </p:spPr>
        <p:txBody>
          <a:bodyPr/>
          <a:lstStyle/>
          <a:p>
            <a:r>
              <a:rPr lang="zh-CN" altLang="en-US"/>
              <a:t>相关工作</a:t>
            </a:r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16541" y="1196845"/>
            <a:ext cx="8784610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任务分发的相关研究</a:t>
            </a:r>
            <a:r>
              <a:rPr lang="en-US" altLang="zh-CN"/>
              <a:t>——</a:t>
            </a:r>
            <a:r>
              <a:rPr lang="zh-CN" altLang="en-US"/>
              <a:t>映射调度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60551" y="1844890"/>
            <a:ext cx="45363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0"/>
              </a:spcAft>
              <a:buFontTx/>
              <a:buChar char="-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主要目的：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个大型任务拆分，从而映射到多个硬件上，需要参考任务类型和硬件资源量以达到负载均衡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551" y="2924965"/>
          <a:ext cx="5400375" cy="19253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00125"/>
                <a:gridCol w="1584109"/>
                <a:gridCol w="201614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研究工作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Queue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User Queue -&gt; 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n HW Queues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QPimm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Block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Block -&gt; n SMs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AWG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GPU Navigator</a:t>
                      </a:r>
                      <a:r>
                        <a:rPr lang="zh-CN" altLang="en-US" sz="1400"/>
                        <a:t>、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BlockMaestro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Sub-core Scheduler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 Warp -&gt; </a:t>
                      </a:r>
                      <a:br>
                        <a:rPr lang="en-US" altLang="zh-CN" sz="1400"/>
                      </a:br>
                      <a:r>
                        <a:rPr lang="en-US" altLang="zh-CN" sz="1400"/>
                        <a:t>n Sub-Cores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WarpMan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Hashed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Shuffle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951" y="1916895"/>
            <a:ext cx="4520610" cy="344656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2556" y="5013110"/>
            <a:ext cx="56163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Sub-core Scheduler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Sub-core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之间会有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inter-warp divergence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，如何消除这种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divergence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导致的性能问题？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556" y="332785"/>
            <a:ext cx="4032280" cy="648045"/>
          </a:xfrm>
        </p:spPr>
        <p:txBody>
          <a:bodyPr/>
          <a:lstStyle/>
          <a:p>
            <a:r>
              <a:rPr lang="zh-CN" altLang="en-US"/>
              <a:t>相关工作</a:t>
            </a:r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16541" y="1196845"/>
            <a:ext cx="8784610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任务分发的相关研究</a:t>
            </a:r>
            <a:r>
              <a:rPr lang="en-US" altLang="zh-CN"/>
              <a:t>——</a:t>
            </a:r>
            <a:r>
              <a:rPr lang="zh-CN" altLang="en-US"/>
              <a:t>优先级仲裁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44536" y="1844890"/>
            <a:ext cx="4536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Multi–Kernel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执行策略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4861" y="2699643"/>
            <a:ext cx="280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Spatial Multitasking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4861" y="3059668"/>
            <a:ext cx="5544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给不同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分配独立的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，单个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只能执行单个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的任务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24861" y="3491698"/>
            <a:ext cx="367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Simultaneous Multikernel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66" y="2420930"/>
            <a:ext cx="4070117" cy="34971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824861" y="1907588"/>
            <a:ext cx="367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Temporal Multitasking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24861" y="2267613"/>
            <a:ext cx="5544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时分复用，由软件控制。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24861" y="3851723"/>
            <a:ext cx="5544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可以执行不同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24861" y="4283753"/>
            <a:ext cx="367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 Preemption Multitasking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256891" y="4725090"/>
          <a:ext cx="5112355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509"/>
                <a:gridCol w="1728120"/>
                <a:gridCol w="1764726"/>
              </a:tblGrid>
              <a:tr h="262833">
                <a:tc>
                  <a:txBody>
                    <a:bodyPr/>
                    <a:lstStyle/>
                    <a:p>
                      <a:r>
                        <a:rPr lang="zh-CN" altLang="en-US" sz="1400"/>
                        <a:t>类型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优势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劣势</a:t>
                      </a:r>
                      <a:endParaRPr lang="zh-CN" altLang="en-US" sz="1400"/>
                    </a:p>
                  </a:txBody>
                  <a:tcPr/>
                </a:tc>
              </a:tr>
              <a:tr h="262833">
                <a:tc>
                  <a:txBody>
                    <a:bodyPr/>
                    <a:lstStyle/>
                    <a:p>
                      <a:r>
                        <a:rPr lang="en-US" altLang="zh-CN" sz="1400"/>
                        <a:t>SM draining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吞吐压力小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延迟很高</a:t>
                      </a:r>
                      <a:endParaRPr lang="zh-CN" altLang="en-US" sz="1400"/>
                    </a:p>
                  </a:txBody>
                  <a:tcPr/>
                </a:tc>
              </a:tr>
              <a:tr h="262833">
                <a:tc>
                  <a:txBody>
                    <a:bodyPr/>
                    <a:lstStyle/>
                    <a:p>
                      <a:r>
                        <a:rPr lang="en-US" altLang="zh-CN" sz="1400"/>
                        <a:t>SM flushing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延迟很低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对</a:t>
                      </a:r>
                      <a:r>
                        <a:rPr lang="en-US" altLang="zh-CN" sz="1400"/>
                        <a:t>Kernel</a:t>
                      </a:r>
                      <a:r>
                        <a:rPr lang="zh-CN" altLang="en-US" sz="1400"/>
                        <a:t>有严格要求</a:t>
                      </a:r>
                      <a:endParaRPr lang="zh-CN" altLang="en-US" sz="1400"/>
                    </a:p>
                  </a:txBody>
                  <a:tcPr/>
                </a:tc>
              </a:tr>
              <a:tr h="262833">
                <a:tc>
                  <a:txBody>
                    <a:bodyPr/>
                    <a:lstStyle/>
                    <a:p>
                      <a:r>
                        <a:rPr lang="en-US" altLang="zh-CN" sz="1400"/>
                        <a:t>Context Switching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无需关心执行进度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吞吐压力大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556" y="332785"/>
            <a:ext cx="4032280" cy="648045"/>
          </a:xfrm>
        </p:spPr>
        <p:txBody>
          <a:bodyPr/>
          <a:lstStyle/>
          <a:p>
            <a:r>
              <a:rPr lang="zh-CN" altLang="en-US"/>
              <a:t>相关工作</a:t>
            </a:r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16541" y="1196845"/>
            <a:ext cx="8784610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任务分发的相关研究</a:t>
            </a:r>
            <a:r>
              <a:rPr lang="en-US" altLang="zh-CN"/>
              <a:t>——</a:t>
            </a:r>
            <a:r>
              <a:rPr lang="zh-CN" altLang="en-US"/>
              <a:t>优先级仲裁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44536" y="1844890"/>
            <a:ext cx="4536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Warp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任务仲裁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6566" y="2348925"/>
            <a:ext cx="4248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</a:rPr>
              <a:t>多个任务请求到相同硬件，需要裁定执行顺序，利用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</a:rPr>
              <a:t>TLP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</a:rPr>
              <a:t>让有限的硬件资源尽量忙碌</a:t>
            </a:r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41" y="2924965"/>
            <a:ext cx="6593165" cy="3600250"/>
          </a:xfrm>
          <a:prstGeom prst="rect">
            <a:avLst/>
          </a:prstGeom>
        </p:spPr>
      </p:pic>
      <p:pic>
        <p:nvPicPr>
          <p:cNvPr id="8" name="图片 7" descr="图示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11" y="1916895"/>
            <a:ext cx="3689612" cy="42016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591" y="1772885"/>
            <a:ext cx="4227473" cy="4330318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806449" y="1988900"/>
            <a:ext cx="3600250" cy="36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黑体" panose="0201060906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b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Multiple Mapping Queue -&gt; 4 HW Queue</a:t>
            </a:r>
            <a:b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Software-Config Kernel Arbitrator</a:t>
            </a:r>
            <a:endParaRPr lang="en-US" altLang="zh-CN" sz="11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</a:pP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CTD (</a:t>
            </a:r>
            <a:r>
              <a:rPr lang="en-US" altLang="zh-CN" sz="12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scheduler)</a:t>
            </a:r>
            <a:b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b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 (sub-core scheduler)</a:t>
            </a:r>
            <a:endParaRPr lang="en-US" altLang="zh-CN" sz="12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</a:pP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endParaRPr lang="en-US" altLang="zh-CN" sz="11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</a:pP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Warp Issue Arbitrator</a:t>
            </a:r>
            <a:endParaRPr lang="en-US" altLang="zh-CN" sz="12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</a:pP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Multiple Schedulers for</a:t>
            </a:r>
            <a:r>
              <a:rPr lang="zh-CN" altLang="en-US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different function units</a:t>
            </a:r>
            <a:b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kern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</a:t>
            </a: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100" kern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salu</a:t>
            </a: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100" kern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ldst</a:t>
            </a: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bru) -&gt; GTO </a:t>
            </a:r>
            <a:b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Request Arbitrator</a:t>
            </a:r>
            <a:br>
              <a:rPr lang="en-US" altLang="zh-CN" sz="12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credit-based policy</a:t>
            </a:r>
            <a:endParaRPr lang="en-US" altLang="zh-CN" sz="11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8596" y="6093185"/>
            <a:ext cx="4248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Loongson 2K3000 (LG200) GPU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中的任务管理</a:t>
            </a:r>
            <a:endParaRPr lang="zh-CN" altLang="en-US" sz="140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216541" y="1196845"/>
            <a:ext cx="4221726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任务分发的相关研究</a:t>
            </a:r>
            <a:endParaRPr lang="en-US" altLang="zh-CN"/>
          </a:p>
        </p:txBody>
      </p:sp>
      <p:sp>
        <p:nvSpPr>
          <p:cNvPr id="12" name="标题 1"/>
          <p:cNvSpPr txBox="1"/>
          <p:nvPr/>
        </p:nvSpPr>
        <p:spPr>
          <a:xfrm>
            <a:off x="432556" y="332785"/>
            <a:ext cx="4032280" cy="64804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相关工作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216541" y="1196845"/>
            <a:ext cx="4221726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资源共享的相关研究</a:t>
            </a:r>
            <a:endParaRPr lang="en-US" altLang="zh-CN"/>
          </a:p>
        </p:txBody>
      </p:sp>
      <p:sp>
        <p:nvSpPr>
          <p:cNvPr id="12" name="标题 1"/>
          <p:cNvSpPr txBox="1"/>
          <p:nvPr/>
        </p:nvSpPr>
        <p:spPr>
          <a:xfrm>
            <a:off x="432556" y="332785"/>
            <a:ext cx="4032280" cy="64804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相关工作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20576" y="1844890"/>
          <a:ext cx="554438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403"/>
                <a:gridCol w="3111982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粒度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工作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共享</a:t>
                      </a:r>
                      <a:r>
                        <a:rPr lang="en-US" altLang="zh-CN"/>
                        <a:t>register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RegMux(2018)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共享</a:t>
                      </a:r>
                      <a:r>
                        <a:rPr lang="en-US" altLang="zh-CN"/>
                        <a:t>L1 Cache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DC-L1(2021), CCDS(2024)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共享</a:t>
                      </a:r>
                      <a:r>
                        <a:rPr lang="en-US" altLang="zh-CN"/>
                        <a:t>Pipeline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FESA(2014), BigSM(2017)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内容占位符 2"/>
          <p:cNvSpPr txBox="1"/>
          <p:nvPr/>
        </p:nvSpPr>
        <p:spPr>
          <a:xfrm>
            <a:off x="216541" y="3573010"/>
            <a:ext cx="4968345" cy="50787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任务路径优化的相关研究</a:t>
            </a:r>
            <a:endParaRPr lang="en-US" altLang="zh-CN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20575" y="4293060"/>
          <a:ext cx="79205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01"/>
                <a:gridCol w="648045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方向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工作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流水线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Pre-exec(2016), HAWS(2019), LOOG(2022), SOCGPU(2023)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片上网络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BENoC(2016), IVC(2018), AA-NoC(2019), Dapper(2020)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0551" y="116770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论文进展情况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——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整体论文结构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72906" y="1628875"/>
            <a:ext cx="5472380" cy="1219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>
                <a:latin typeface="+mj-lt"/>
              </a:rPr>
              <a:t>基于负载均衡的抢占式调度框架</a:t>
            </a:r>
            <a:endParaRPr lang="en-US" altLang="zh-CN" sz="2000">
              <a:latin typeface="+mj-lt"/>
            </a:endParaRP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>
                <a:latin typeface="+mj-lt"/>
              </a:rPr>
              <a:t>—— </a:t>
            </a:r>
            <a:r>
              <a:rPr lang="zh-CN" altLang="en-US" sz="1600" b="0">
                <a:latin typeface="+mj-lt"/>
              </a:rPr>
              <a:t>解决多应用</a:t>
            </a:r>
            <a:r>
              <a:rPr lang="en-US" altLang="zh-CN" sz="1600" b="0">
                <a:latin typeface="+mj-lt"/>
              </a:rPr>
              <a:t>kernel</a:t>
            </a:r>
            <a:r>
              <a:rPr lang="zh-CN" altLang="en-US" sz="1600" b="0">
                <a:latin typeface="+mj-lt"/>
              </a:rPr>
              <a:t>之间的</a:t>
            </a:r>
            <a:r>
              <a:rPr lang="en-US" altLang="zh-CN" sz="1600" b="0">
                <a:latin typeface="+mj-lt"/>
              </a:rPr>
              <a:t>QoS</a:t>
            </a:r>
            <a:r>
              <a:rPr lang="zh-CN" altLang="en-US" sz="1600" b="0">
                <a:latin typeface="+mj-lt"/>
              </a:rPr>
              <a:t>和饥饿问题。</a:t>
            </a:r>
            <a:br>
              <a:rPr lang="en-US" altLang="zh-CN" sz="1600" b="0">
                <a:latin typeface="+mj-lt"/>
              </a:rPr>
            </a:br>
            <a:r>
              <a:rPr lang="en-US" altLang="zh-CN" sz="1600" b="0">
                <a:latin typeface="+mj-lt"/>
              </a:rPr>
              <a:t>—— </a:t>
            </a:r>
            <a:r>
              <a:rPr lang="zh-CN" altLang="en-US" sz="1600" b="0">
                <a:latin typeface="+mj-lt"/>
              </a:rPr>
              <a:t>解决不同</a:t>
            </a:r>
            <a:r>
              <a:rPr lang="en-US" altLang="zh-CN" sz="1600" b="0">
                <a:latin typeface="+mj-lt"/>
              </a:rPr>
              <a:t>SM</a:t>
            </a:r>
            <a:r>
              <a:rPr lang="zh-CN" altLang="en-US" sz="1600" b="0">
                <a:latin typeface="+mj-lt"/>
              </a:rPr>
              <a:t>的负载均衡问题。</a:t>
            </a:r>
            <a:endParaRPr lang="en-US" altLang="zh-CN" sz="1600" b="0">
              <a:latin typeface="+mj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68758" y="3001426"/>
            <a:ext cx="5472380" cy="1219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>
                <a:latin typeface="+mj-lt"/>
              </a:rPr>
              <a:t>针对计算任务的并发优化</a:t>
            </a:r>
            <a:endParaRPr lang="en-US" altLang="zh-CN" sz="2000">
              <a:latin typeface="+mj-lt"/>
            </a:endParaRP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>
                <a:latin typeface="+mj-lt"/>
              </a:rPr>
              <a:t>—— </a:t>
            </a:r>
            <a:r>
              <a:rPr lang="zh-CN" altLang="en-US" sz="1600" b="0">
                <a:latin typeface="+mj-lt"/>
              </a:rPr>
              <a:t>解决不同</a:t>
            </a:r>
            <a:r>
              <a:rPr lang="en-US" altLang="zh-CN" sz="1600" b="0">
                <a:latin typeface="+mj-lt"/>
              </a:rPr>
              <a:t>Sub-Core</a:t>
            </a:r>
            <a:r>
              <a:rPr lang="zh-CN" altLang="en-US" sz="1600" b="0">
                <a:latin typeface="+mj-lt"/>
              </a:rPr>
              <a:t>不同功能部件的任务分配不均问题。</a:t>
            </a:r>
            <a:br>
              <a:rPr lang="en-US" altLang="zh-CN" b="0">
                <a:latin typeface="+mj-lt"/>
              </a:rPr>
            </a:br>
            <a:r>
              <a:rPr lang="en-US" altLang="zh-CN" sz="1600" b="0">
                <a:latin typeface="+mj-lt"/>
              </a:rPr>
              <a:t>—— </a:t>
            </a:r>
            <a:r>
              <a:rPr lang="zh-CN" altLang="en-US" sz="1600" b="0">
                <a:latin typeface="+mj-lt"/>
              </a:rPr>
              <a:t>重新组织并行计算任务的仲裁策略。</a:t>
            </a:r>
            <a:endParaRPr lang="en-US" altLang="zh-CN" b="0"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68758" y="4441526"/>
            <a:ext cx="5472380" cy="1219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>
                <a:latin typeface="+mj-lt"/>
              </a:rPr>
              <a:t>针对访存任务的并发优化</a:t>
            </a:r>
            <a:endParaRPr lang="en-US" altLang="zh-CN" sz="2000">
              <a:latin typeface="+mj-lt"/>
            </a:endParaRP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>
                <a:latin typeface="+mj-lt"/>
              </a:rPr>
              <a:t>—— </a:t>
            </a:r>
            <a:r>
              <a:rPr lang="zh-CN" altLang="en-US" sz="1600" b="0">
                <a:latin typeface="+mj-lt"/>
              </a:rPr>
              <a:t>解决访存网络上的阻塞问题。</a:t>
            </a:r>
            <a:br>
              <a:rPr lang="en-US" altLang="zh-CN" b="0">
                <a:latin typeface="+mj-lt"/>
              </a:rPr>
            </a:br>
            <a:r>
              <a:rPr lang="en-US" altLang="zh-CN" sz="1600" b="0">
                <a:latin typeface="+mj-lt"/>
              </a:rPr>
              <a:t>—— </a:t>
            </a:r>
            <a:r>
              <a:rPr lang="zh-CN" altLang="en-US" sz="1600" b="0">
                <a:latin typeface="+mj-lt"/>
              </a:rPr>
              <a:t>对访存任务的分发进行多次调度。</a:t>
            </a:r>
            <a:endParaRPr lang="en-US" altLang="zh-CN" b="0">
              <a:latin typeface="+mj-lt"/>
            </a:endParaRPr>
          </a:p>
        </p:txBody>
      </p:sp>
      <p:pic>
        <p:nvPicPr>
          <p:cNvPr id="4" name="图片 3" descr="图示, 示意图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6" y="1052835"/>
            <a:ext cx="5113616" cy="5566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926855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Sub-Core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间的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FU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共享架构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551" y="1340855"/>
            <a:ext cx="2592180" cy="651887"/>
          </a:xfrm>
        </p:spPr>
        <p:txBody>
          <a:bodyPr/>
          <a:lstStyle/>
          <a:p>
            <a:r>
              <a:rPr lang="zh-CN" altLang="en-US"/>
              <a:t>解决的问题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216541" y="2276920"/>
            <a:ext cx="504035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000">
                <a:solidFill>
                  <a:srgbClr val="FF0000"/>
                </a:solidFill>
                <a:latin typeface="+mj-lt"/>
              </a:rPr>
              <a:t>OC</a:t>
            </a:r>
            <a:r>
              <a:rPr lang="zh-CN" altLang="en-US" sz="2000">
                <a:solidFill>
                  <a:srgbClr val="FF0000"/>
                </a:solidFill>
                <a:latin typeface="+mj-lt"/>
              </a:rPr>
              <a:t>与</a:t>
            </a:r>
            <a:r>
              <a:rPr lang="en-US" altLang="zh-CN" sz="2000">
                <a:solidFill>
                  <a:srgbClr val="FF0000"/>
                </a:solidFill>
                <a:latin typeface="+mj-lt"/>
              </a:rPr>
              <a:t>FU</a:t>
            </a:r>
            <a:r>
              <a:rPr lang="zh-CN" altLang="en-US" sz="2000">
                <a:solidFill>
                  <a:srgbClr val="FF0000"/>
                </a:solidFill>
                <a:latin typeface="+mj-lt"/>
              </a:rPr>
              <a:t>之间的阻塞问题（</a:t>
            </a:r>
            <a:r>
              <a:rPr lang="en-US" altLang="zh-CN" sz="2000">
                <a:solidFill>
                  <a:srgbClr val="FF0000"/>
                </a:solidFill>
                <a:latin typeface="+mj-lt"/>
              </a:rPr>
              <a:t>OC-blocking</a:t>
            </a:r>
            <a:r>
              <a:rPr lang="zh-CN" altLang="en-US" sz="2000">
                <a:solidFill>
                  <a:srgbClr val="FF0000"/>
                </a:solidFill>
                <a:latin typeface="+mj-lt"/>
              </a:rPr>
              <a:t>）</a:t>
            </a:r>
            <a:endParaRPr lang="en-US" altLang="zh-CN" sz="2000">
              <a:solidFill>
                <a:srgbClr val="FF0000"/>
              </a:solidFill>
              <a:latin typeface="+mj-lt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1600"/>
              <a:t>  ◇ </a:t>
            </a:r>
            <a:r>
              <a:rPr lang="en-US" altLang="zh-CN" sz="1600" b="0">
                <a:latin typeface="+mj-lt"/>
              </a:rPr>
              <a:t>FU</a:t>
            </a:r>
            <a:r>
              <a:rPr lang="zh-CN" altLang="en-US" sz="1600" b="0">
                <a:latin typeface="+mj-lt"/>
              </a:rPr>
              <a:t>的数量与</a:t>
            </a:r>
            <a:r>
              <a:rPr lang="en-US" altLang="zh-CN" sz="1600" b="0">
                <a:latin typeface="+mj-lt"/>
              </a:rPr>
              <a:t>warp</a:t>
            </a:r>
            <a:r>
              <a:rPr lang="zh-CN" altLang="en-US" sz="1600" b="0">
                <a:latin typeface="+mj-lt"/>
              </a:rPr>
              <a:t>线程数不匹配。</a:t>
            </a:r>
            <a:br>
              <a:rPr lang="en-US" altLang="zh-CN" sz="1600" b="0">
                <a:latin typeface="+mj-lt"/>
              </a:rPr>
            </a:br>
            <a:r>
              <a:rPr lang="zh-CN" altLang="en-US" sz="1600" b="0">
                <a:latin typeface="+mj-lt"/>
              </a:rPr>
              <a:t>（</a:t>
            </a:r>
            <a:r>
              <a:rPr lang="en-US" altLang="zh-CN" sz="1600" b="0">
                <a:latin typeface="+mj-lt"/>
              </a:rPr>
              <a:t>RTX2060</a:t>
            </a:r>
            <a:r>
              <a:rPr lang="zh-CN" altLang="en-US" sz="1600" b="0">
                <a:latin typeface="+mj-lt"/>
              </a:rPr>
              <a:t>：</a:t>
            </a:r>
            <a:br>
              <a:rPr lang="en-US" altLang="zh-CN" sz="1600" b="0">
                <a:latin typeface="+mj-lt"/>
              </a:rPr>
            </a:br>
            <a:r>
              <a:rPr lang="en-US" altLang="zh-CN" sz="1600" b="0">
                <a:latin typeface="+mj-lt"/>
              </a:rPr>
              <a:t>    warp-32threads </a:t>
            </a:r>
            <a:r>
              <a:rPr lang="zh-CN" altLang="en-US" sz="1600" b="0">
                <a:latin typeface="+mj-lt"/>
              </a:rPr>
              <a:t>对比 </a:t>
            </a:r>
            <a:r>
              <a:rPr lang="en-US" altLang="zh-CN" sz="1600" b="0">
                <a:latin typeface="+mj-lt"/>
              </a:rPr>
              <a:t>16 FP, 16 INT, 4 SFU</a:t>
            </a:r>
            <a:r>
              <a:rPr lang="zh-CN" altLang="en-US" sz="1600" b="0">
                <a:latin typeface="+mj-lt"/>
              </a:rPr>
              <a:t>）</a:t>
            </a:r>
            <a:endParaRPr lang="en-US" altLang="zh-CN" sz="1600" b="0">
              <a:latin typeface="+mj-lt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1600"/>
              <a:t> ◇ </a:t>
            </a:r>
            <a:r>
              <a:rPr lang="en-US" altLang="zh-CN" sz="1600" b="0">
                <a:latin typeface="+mj-lt"/>
              </a:rPr>
              <a:t>1</a:t>
            </a:r>
            <a:r>
              <a:rPr lang="zh-CN" altLang="en-US" sz="1600" b="0">
                <a:latin typeface="+mj-lt"/>
              </a:rPr>
              <a:t>条指令占据多拍流水线，</a:t>
            </a:r>
            <a:br>
              <a:rPr lang="en-US" altLang="zh-CN" sz="1600" b="0">
                <a:latin typeface="+mj-lt"/>
              </a:rPr>
            </a:br>
            <a:r>
              <a:rPr lang="en-US" altLang="zh-CN" sz="1600" b="0">
                <a:latin typeface="+mj-lt"/>
              </a:rPr>
              <a:t>     </a:t>
            </a:r>
            <a:r>
              <a:rPr lang="zh-CN" altLang="en-US" sz="1600" b="0">
                <a:latin typeface="+mj-lt"/>
              </a:rPr>
              <a:t>从而阻塞后端</a:t>
            </a:r>
            <a:r>
              <a:rPr lang="en-US" altLang="zh-CN" sz="1600" b="0">
                <a:latin typeface="+mj-lt"/>
              </a:rPr>
              <a:t>CU</a:t>
            </a:r>
            <a:r>
              <a:rPr lang="zh-CN" altLang="en-US" sz="1600" b="0">
                <a:latin typeface="+mj-lt"/>
              </a:rPr>
              <a:t>的同类型指令。</a:t>
            </a:r>
            <a:endParaRPr lang="en-US" altLang="zh-CN" sz="1600" b="0">
              <a:latin typeface="+mj-lt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/>
              <a:t> ◇ </a:t>
            </a:r>
            <a:r>
              <a:rPr lang="en-US" altLang="zh-CN" sz="1600" b="0">
                <a:latin typeface="+mj-lt"/>
              </a:rPr>
              <a:t>CU</a:t>
            </a:r>
            <a:r>
              <a:rPr lang="zh-CN" altLang="en-US" sz="1600" b="0">
                <a:latin typeface="+mj-lt"/>
              </a:rPr>
              <a:t>的阻塞可能会前导到前端的</a:t>
            </a:r>
            <a:r>
              <a:rPr lang="en-US" altLang="zh-CN" sz="1600" b="0">
                <a:latin typeface="+mj-lt"/>
              </a:rPr>
              <a:t>Dispatch</a:t>
            </a:r>
            <a:r>
              <a:rPr lang="zh-CN" altLang="en-US" sz="1600" b="0">
                <a:latin typeface="+mj-lt"/>
              </a:rPr>
              <a:t>发射。</a:t>
            </a:r>
            <a:endParaRPr lang="en-US" altLang="zh-CN" sz="1600" b="0">
              <a:latin typeface="+mj-lt"/>
            </a:endParaRPr>
          </a:p>
        </p:txBody>
      </p:sp>
      <p:pic>
        <p:nvPicPr>
          <p:cNvPr id="4" name="图片 3" descr="图形用户界面, 图示, 应用程序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118" y="2852960"/>
            <a:ext cx="4966823" cy="2645797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8070229" y="4319295"/>
            <a:ext cx="1766048" cy="788894"/>
          </a:xfrm>
          <a:prstGeom prst="roundRect">
            <a:avLst/>
          </a:prstGeom>
          <a:solidFill>
            <a:srgbClr val="F96D6D">
              <a:alpha val="30196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FU busy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7572688" y="3772448"/>
            <a:ext cx="1595718" cy="425823"/>
          </a:xfrm>
          <a:prstGeom prst="roundRect">
            <a:avLst/>
          </a:prstGeom>
          <a:solidFill>
            <a:srgbClr val="F96D6D">
              <a:alpha val="30196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OC busy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572688" y="2916320"/>
            <a:ext cx="2308412" cy="788893"/>
          </a:xfrm>
          <a:prstGeom prst="roundRect">
            <a:avLst/>
          </a:prstGeom>
          <a:solidFill>
            <a:srgbClr val="F96D6D">
              <a:alpha val="30196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Front-end busy 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10" name="连接符: 曲线 9"/>
          <p:cNvCxnSpPr>
            <a:stCxn id="6" idx="3"/>
          </p:cNvCxnSpPr>
          <p:nvPr/>
        </p:nvCxnSpPr>
        <p:spPr>
          <a:xfrm flipH="1" flipV="1">
            <a:off x="9168406" y="4056076"/>
            <a:ext cx="667871" cy="657666"/>
          </a:xfrm>
          <a:prstGeom prst="curvedConnector3">
            <a:avLst>
              <a:gd name="adj1" fmla="val -34899"/>
            </a:avLst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/>
          <p:cNvCxnSpPr/>
          <p:nvPr/>
        </p:nvCxnSpPr>
        <p:spPr>
          <a:xfrm flipV="1">
            <a:off x="9168406" y="3373174"/>
            <a:ext cx="712694" cy="536735"/>
          </a:xfrm>
          <a:prstGeom prst="curvedConnector3">
            <a:avLst>
              <a:gd name="adj1" fmla="val 141824"/>
            </a:avLst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箭头: 上 12"/>
          <p:cNvSpPr/>
          <p:nvPr/>
        </p:nvSpPr>
        <p:spPr>
          <a:xfrm>
            <a:off x="9959455" y="2621028"/>
            <a:ext cx="265782" cy="3025588"/>
          </a:xfrm>
          <a:prstGeom prst="upArrow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46814" y="1974697"/>
            <a:ext cx="2471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accent4">
                    <a:lumMod val="50000"/>
                    <a:lumOff val="50000"/>
                  </a:schemeClr>
                </a:solidFill>
              </a:rPr>
              <a:t>Backpropagation of structural blocking</a:t>
            </a:r>
            <a:endParaRPr lang="zh-CN" altLang="en-US" b="1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926855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Sub-Core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间的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FU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共享架构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551" y="1340855"/>
            <a:ext cx="2592180" cy="651887"/>
          </a:xfrm>
        </p:spPr>
        <p:txBody>
          <a:bodyPr/>
          <a:lstStyle/>
          <a:p>
            <a:r>
              <a:rPr lang="zh-CN" altLang="en-US"/>
              <a:t>实验分析</a:t>
            </a:r>
            <a:endParaRPr lang="en-US" altLang="zh-CN"/>
          </a:p>
        </p:txBody>
      </p:sp>
      <p:pic>
        <p:nvPicPr>
          <p:cNvPr id="5" name="图片 4" descr="图表, 条形图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" y="1988900"/>
            <a:ext cx="5400375" cy="1542964"/>
          </a:xfrm>
          <a:prstGeom prst="rect">
            <a:avLst/>
          </a:prstGeom>
        </p:spPr>
      </p:pic>
      <p:pic>
        <p:nvPicPr>
          <p:cNvPr id="12" name="图片 11" descr="图表, 条形图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6202"/>
            <a:ext cx="5507550" cy="1966983"/>
          </a:xfrm>
          <a:prstGeom prst="rect">
            <a:avLst/>
          </a:prstGeom>
        </p:spPr>
      </p:pic>
      <p:pic>
        <p:nvPicPr>
          <p:cNvPr id="14" name="图片 13" descr="图表, 条形图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926" y="1196845"/>
            <a:ext cx="4896340" cy="174869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507550" y="3210646"/>
            <a:ext cx="550755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+mn-lt"/>
              </a:rPr>
              <a:t>观察</a:t>
            </a:r>
            <a:r>
              <a:rPr lang="en-US" altLang="zh-CN" sz="1600">
                <a:latin typeface="+mn-lt"/>
              </a:rPr>
              <a:t>1 (</a:t>
            </a:r>
            <a:r>
              <a:rPr lang="zh-CN" altLang="en-US" sz="1600">
                <a:latin typeface="+mn-lt"/>
              </a:rPr>
              <a:t>图</a:t>
            </a:r>
            <a:r>
              <a:rPr lang="en-US" altLang="zh-CN" sz="1600">
                <a:latin typeface="+mn-lt"/>
              </a:rPr>
              <a:t>1)</a:t>
            </a:r>
            <a:r>
              <a:rPr lang="zh-CN" altLang="en-US" sz="1400" b="0">
                <a:latin typeface="+mn-lt"/>
              </a:rPr>
              <a:t>：对计算敏感任务，共享</a:t>
            </a:r>
            <a:r>
              <a:rPr lang="en-US" altLang="zh-CN" sz="1400" b="0">
                <a:latin typeface="+mn-lt"/>
              </a:rPr>
              <a:t>FU</a:t>
            </a:r>
            <a:r>
              <a:rPr lang="zh-CN" altLang="en-US" sz="1400" b="0">
                <a:latin typeface="+mn-lt"/>
              </a:rPr>
              <a:t>效果最好，</a:t>
            </a:r>
            <a:r>
              <a:rPr lang="en-US" altLang="zh-CN" sz="1400" b="0">
                <a:latin typeface="+mn-lt"/>
              </a:rPr>
              <a:t>IPC</a:t>
            </a:r>
            <a:r>
              <a:rPr lang="zh-CN" altLang="en-US" sz="1400" b="0">
                <a:latin typeface="+mn-lt"/>
              </a:rPr>
              <a:t>提升</a:t>
            </a:r>
            <a:r>
              <a:rPr lang="en-US" altLang="zh-CN" sz="1400" b="0">
                <a:latin typeface="+mn-lt"/>
              </a:rPr>
              <a:t>28.1%</a:t>
            </a:r>
            <a:endParaRPr lang="en-US" altLang="zh-CN" sz="1400" b="0">
              <a:latin typeface="+mn-lt"/>
            </a:endParaRPr>
          </a:p>
          <a:p>
            <a:r>
              <a:rPr lang="zh-CN" altLang="en-US" sz="1600">
                <a:latin typeface="+mn-lt"/>
              </a:rPr>
              <a:t>观察</a:t>
            </a:r>
            <a:r>
              <a:rPr lang="en-US" altLang="zh-CN" sz="1600">
                <a:latin typeface="+mn-lt"/>
              </a:rPr>
              <a:t>2</a:t>
            </a:r>
            <a:r>
              <a:rPr lang="zh-CN" altLang="en-US" sz="1600">
                <a:latin typeface="+mn-lt"/>
              </a:rPr>
              <a:t> </a:t>
            </a:r>
            <a:r>
              <a:rPr lang="en-US" altLang="zh-CN" sz="1600">
                <a:latin typeface="+mn-lt"/>
              </a:rPr>
              <a:t>(</a:t>
            </a:r>
            <a:r>
              <a:rPr lang="zh-CN" altLang="en-US" sz="1600">
                <a:latin typeface="+mn-lt"/>
              </a:rPr>
              <a:t>图</a:t>
            </a:r>
            <a:r>
              <a:rPr lang="en-US" altLang="zh-CN" sz="1600">
                <a:latin typeface="+mn-lt"/>
              </a:rPr>
              <a:t>2)</a:t>
            </a:r>
            <a:r>
              <a:rPr lang="zh-CN" altLang="en-US" sz="1400" b="0">
                <a:latin typeface="+mn-lt"/>
              </a:rPr>
              <a:t>：相比同时共享</a:t>
            </a:r>
            <a:r>
              <a:rPr lang="en-US" altLang="zh-CN" sz="1400" b="0">
                <a:latin typeface="+mn-lt"/>
              </a:rPr>
              <a:t>OC</a:t>
            </a:r>
            <a:r>
              <a:rPr lang="zh-CN" altLang="en-US" sz="1400" b="0">
                <a:latin typeface="+mn-lt"/>
              </a:rPr>
              <a:t>和</a:t>
            </a:r>
            <a:r>
              <a:rPr lang="en-US" altLang="zh-CN" sz="1400" b="0">
                <a:latin typeface="+mn-lt"/>
              </a:rPr>
              <a:t>FU</a:t>
            </a:r>
            <a:r>
              <a:rPr lang="zh-CN" altLang="en-US" sz="1400" b="0">
                <a:latin typeface="+mn-lt"/>
              </a:rPr>
              <a:t>，只共享</a:t>
            </a:r>
            <a:r>
              <a:rPr lang="en-US" altLang="zh-CN" sz="1400" b="0">
                <a:latin typeface="+mn-lt"/>
              </a:rPr>
              <a:t>FU</a:t>
            </a:r>
            <a:r>
              <a:rPr lang="zh-CN" altLang="en-US" sz="1400" b="0">
                <a:latin typeface="+mn-lt"/>
              </a:rPr>
              <a:t>的效果差距很小</a:t>
            </a:r>
            <a:endParaRPr lang="en-US" altLang="zh-CN" sz="1400" b="0">
              <a:latin typeface="+mn-lt"/>
            </a:endParaRPr>
          </a:p>
          <a:p>
            <a:r>
              <a:rPr lang="zh-CN" altLang="en-US" sz="1600">
                <a:latin typeface="+mn-lt"/>
              </a:rPr>
              <a:t>观察</a:t>
            </a:r>
            <a:r>
              <a:rPr lang="en-US" altLang="zh-CN" sz="1600">
                <a:latin typeface="+mn-lt"/>
              </a:rPr>
              <a:t>3 (</a:t>
            </a:r>
            <a:r>
              <a:rPr lang="zh-CN" altLang="en-US" sz="1600">
                <a:latin typeface="+mn-lt"/>
              </a:rPr>
              <a:t>图</a:t>
            </a:r>
            <a:r>
              <a:rPr lang="en-US" altLang="zh-CN" sz="1600">
                <a:latin typeface="+mn-lt"/>
              </a:rPr>
              <a:t>3)</a:t>
            </a:r>
            <a:r>
              <a:rPr lang="zh-CN" altLang="en-US" sz="1400" b="0">
                <a:latin typeface="+mn-lt"/>
              </a:rPr>
              <a:t>：</a:t>
            </a:r>
            <a:r>
              <a:rPr lang="en-US" altLang="zh-CN" sz="1400" b="0">
                <a:latin typeface="+mn-lt"/>
              </a:rPr>
              <a:t>OC-blocking</a:t>
            </a:r>
            <a:r>
              <a:rPr lang="zh-CN" altLang="en-US" sz="1400" b="0">
                <a:latin typeface="+mn-lt"/>
              </a:rPr>
              <a:t>问题显著，且</a:t>
            </a:r>
            <a:r>
              <a:rPr lang="en-US" altLang="zh-CN" sz="1400" b="0">
                <a:latin typeface="+mn-lt"/>
              </a:rPr>
              <a:t>1</a:t>
            </a:r>
            <a:r>
              <a:rPr lang="zh-CN" altLang="en-US" sz="1400" b="0">
                <a:latin typeface="+mn-lt"/>
              </a:rPr>
              <a:t>个</a:t>
            </a:r>
            <a:r>
              <a:rPr lang="en-US" altLang="zh-CN" sz="1400" b="0">
                <a:latin typeface="+mn-lt"/>
              </a:rPr>
              <a:t>sub-core</a:t>
            </a:r>
            <a:r>
              <a:rPr lang="zh-CN" altLang="en-US" sz="1400" b="0">
                <a:latin typeface="+mn-lt"/>
              </a:rPr>
              <a:t>发生</a:t>
            </a:r>
            <a:r>
              <a:rPr lang="en-US" altLang="zh-CN" sz="1400" b="0">
                <a:latin typeface="+mn-lt"/>
              </a:rPr>
              <a:t>OC-blocking</a:t>
            </a:r>
            <a:r>
              <a:rPr lang="zh-CN" altLang="en-US" sz="1400" b="0">
                <a:latin typeface="+mn-lt"/>
              </a:rPr>
              <a:t>时，其余</a:t>
            </a:r>
            <a:r>
              <a:rPr lang="en-US" altLang="zh-CN" sz="1400" b="0">
                <a:latin typeface="+mn-lt"/>
              </a:rPr>
              <a:t>sub-core</a:t>
            </a:r>
            <a:r>
              <a:rPr lang="zh-CN" altLang="en-US" sz="1400" b="0">
                <a:latin typeface="+mn-lt"/>
              </a:rPr>
              <a:t>有空闲</a:t>
            </a:r>
            <a:r>
              <a:rPr lang="en-US" altLang="zh-CN" sz="1400" b="0">
                <a:latin typeface="+mn-lt"/>
              </a:rPr>
              <a:t>FU</a:t>
            </a:r>
            <a:r>
              <a:rPr lang="zh-CN" altLang="en-US" sz="1400" b="0">
                <a:latin typeface="+mn-lt"/>
              </a:rPr>
              <a:t>的概率很高</a:t>
            </a:r>
            <a:br>
              <a:rPr lang="en-US" altLang="zh-CN" sz="1400" b="0">
                <a:latin typeface="+mn-lt"/>
              </a:rPr>
            </a:br>
            <a:r>
              <a:rPr lang="zh-CN" altLang="en-US" sz="1400" b="0">
                <a:latin typeface="+mn-lt"/>
              </a:rPr>
              <a:t>（即</a:t>
            </a:r>
            <a:r>
              <a:rPr lang="en-US" altLang="zh-CN" sz="1400" b="0">
                <a:latin typeface="+mn-lt"/>
              </a:rPr>
              <a:t>opportunistic blocking</a:t>
            </a:r>
            <a:r>
              <a:rPr lang="zh-CN" altLang="en-US" sz="1400" b="0">
                <a:latin typeface="+mn-lt"/>
              </a:rPr>
              <a:t>在</a:t>
            </a:r>
            <a:r>
              <a:rPr lang="en-US" altLang="zh-CN" sz="1400" b="0">
                <a:latin typeface="+mn-lt"/>
              </a:rPr>
              <a:t>OC-blocking</a:t>
            </a:r>
            <a:r>
              <a:rPr lang="zh-CN" altLang="en-US" sz="1400" b="0">
                <a:latin typeface="+mn-lt"/>
              </a:rPr>
              <a:t>中的占比）</a:t>
            </a:r>
            <a:endParaRPr lang="zh-CN" altLang="en-US" sz="1400" b="0">
              <a:latin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58409" y="3501005"/>
            <a:ext cx="504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图</a:t>
            </a:r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2258409" y="5970646"/>
            <a:ext cx="504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图</a:t>
            </a:r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8065084" y="2822999"/>
            <a:ext cx="504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图</a:t>
            </a:r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9" name="文本框 18"/>
          <p:cNvSpPr txBox="1"/>
          <p:nvPr/>
        </p:nvSpPr>
        <p:spPr>
          <a:xfrm>
            <a:off x="5507552" y="4908817"/>
            <a:ext cx="550754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Insights: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 sz="1600" b="0">
                <a:solidFill>
                  <a:srgbClr val="FF0000"/>
                </a:solidFill>
                <a:latin typeface="+mn-lt"/>
              </a:rPr>
              <a:t>将相邻</a:t>
            </a:r>
            <a:r>
              <a:rPr lang="en-US" altLang="zh-CN" sz="1600" b="0">
                <a:solidFill>
                  <a:srgbClr val="FF0000"/>
                </a:solidFill>
                <a:latin typeface="+mn-lt"/>
              </a:rPr>
              <a:t>Sub-Core</a:t>
            </a:r>
            <a:r>
              <a:rPr lang="zh-CN" altLang="en-US" sz="1600" b="0">
                <a:solidFill>
                  <a:srgbClr val="FF0000"/>
                </a:solidFill>
                <a:latin typeface="+mn-lt"/>
              </a:rPr>
              <a:t>进行</a:t>
            </a:r>
            <a:r>
              <a:rPr lang="en-US" altLang="zh-CN" sz="1600" b="0">
                <a:solidFill>
                  <a:srgbClr val="FF0000"/>
                </a:solidFill>
                <a:latin typeface="+mn-lt"/>
              </a:rPr>
              <a:t>FU</a:t>
            </a:r>
            <a:r>
              <a:rPr lang="zh-CN" altLang="en-US" sz="1600" b="0">
                <a:solidFill>
                  <a:srgbClr val="FF0000"/>
                </a:solidFill>
                <a:latin typeface="+mn-lt"/>
              </a:rPr>
              <a:t>共享，能够有效消除流水线中的</a:t>
            </a:r>
            <a:r>
              <a:rPr lang="en-US" altLang="zh-CN" sz="1600" b="0">
                <a:solidFill>
                  <a:srgbClr val="FF0000"/>
                </a:solidFill>
                <a:latin typeface="+mn-lt"/>
              </a:rPr>
              <a:t>OC-blocking</a:t>
            </a:r>
            <a:r>
              <a:rPr lang="zh-CN" altLang="en-US" sz="1600" b="0">
                <a:solidFill>
                  <a:srgbClr val="FF0000"/>
                </a:solidFill>
                <a:latin typeface="+mn-lt"/>
              </a:rPr>
              <a:t>现象，从而提升执行效率。</a:t>
            </a:r>
            <a:endParaRPr lang="zh-CN" altLang="en-US" sz="1600" b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926855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Sub-Core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间的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FU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共享架构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551" y="1340855"/>
            <a:ext cx="2205586" cy="651887"/>
          </a:xfrm>
        </p:spPr>
        <p:txBody>
          <a:bodyPr/>
          <a:lstStyle/>
          <a:p>
            <a:r>
              <a:rPr lang="zh-CN" altLang="en-US"/>
              <a:t>总体框架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6" name="图片 5" descr="图示, 形状, 矩形, 正方形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76" y="1916895"/>
            <a:ext cx="3558802" cy="11392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70184" y="1640094"/>
            <a:ext cx="540037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0">
                <a:latin typeface="+mn-lt"/>
              </a:rPr>
              <a:t>（</a:t>
            </a:r>
            <a:r>
              <a:rPr lang="en-US" altLang="zh-CN" sz="1400" b="0">
                <a:latin typeface="+mn-lt"/>
              </a:rPr>
              <a:t>1</a:t>
            </a:r>
            <a:r>
              <a:rPr lang="zh-CN" altLang="en-US" sz="1400" b="0">
                <a:latin typeface="+mn-lt"/>
              </a:rPr>
              <a:t>）</a:t>
            </a:r>
            <a:r>
              <a:rPr lang="zh-CN" altLang="en-US" sz="1400" b="0">
                <a:solidFill>
                  <a:srgbClr val="FF0000"/>
                </a:solidFill>
                <a:latin typeface="+mn-lt"/>
              </a:rPr>
              <a:t>固定共享关系</a:t>
            </a:r>
            <a:r>
              <a:rPr lang="zh-CN" altLang="en-US" sz="1400" b="0">
                <a:latin typeface="+mn-lt"/>
              </a:rPr>
              <a:t>，每个</a:t>
            </a:r>
            <a:r>
              <a:rPr lang="en-US" altLang="zh-CN" sz="1400" b="0">
                <a:latin typeface="+mn-lt"/>
              </a:rPr>
              <a:t>Core</a:t>
            </a:r>
            <a:r>
              <a:rPr lang="zh-CN" altLang="en-US" sz="1400" b="0">
                <a:latin typeface="+mn-lt"/>
              </a:rPr>
              <a:t>可作为共享的</a:t>
            </a:r>
            <a:r>
              <a:rPr lang="en-US" altLang="zh-CN" sz="1400" b="0" err="1">
                <a:latin typeface="+mn-lt"/>
              </a:rPr>
              <a:t>Souce</a:t>
            </a:r>
            <a:r>
              <a:rPr lang="zh-CN" altLang="en-US" sz="1400" b="0">
                <a:latin typeface="+mn-lt"/>
              </a:rPr>
              <a:t>或者</a:t>
            </a:r>
            <a:r>
              <a:rPr lang="en-US" altLang="zh-CN" sz="1400" b="0">
                <a:latin typeface="+mn-lt"/>
              </a:rPr>
              <a:t>Target</a:t>
            </a:r>
            <a:r>
              <a:rPr lang="zh-CN" altLang="en-US" sz="1400" b="0">
                <a:latin typeface="+mn-lt"/>
              </a:rPr>
              <a:t>。</a:t>
            </a:r>
            <a:endParaRPr lang="en-US" altLang="zh-CN" sz="1400" b="0">
              <a:latin typeface="+mn-lt"/>
            </a:endParaRPr>
          </a:p>
          <a:p>
            <a:r>
              <a:rPr lang="zh-CN" altLang="en-US" sz="1400" b="0">
                <a:latin typeface="+mn-lt"/>
              </a:rPr>
              <a:t>（</a:t>
            </a:r>
            <a:r>
              <a:rPr lang="en-US" altLang="zh-CN" sz="1400" b="0">
                <a:latin typeface="+mn-lt"/>
              </a:rPr>
              <a:t>2</a:t>
            </a:r>
            <a:r>
              <a:rPr lang="zh-CN" altLang="en-US" sz="1400" b="0">
                <a:latin typeface="+mn-lt"/>
              </a:rPr>
              <a:t>）有</a:t>
            </a:r>
            <a:r>
              <a:rPr lang="en-US" altLang="zh-CN" sz="1400" b="0">
                <a:latin typeface="+mn-lt"/>
              </a:rPr>
              <a:t>4</a:t>
            </a:r>
            <a:r>
              <a:rPr lang="zh-CN" altLang="en-US" sz="1400" b="0">
                <a:latin typeface="+mn-lt"/>
              </a:rPr>
              <a:t>种共享策略，其中</a:t>
            </a:r>
            <a:r>
              <a:rPr lang="en-US" altLang="zh-CN" sz="1400" b="0">
                <a:solidFill>
                  <a:srgbClr val="FF0000"/>
                </a:solidFill>
                <a:latin typeface="+mn-lt"/>
              </a:rPr>
              <a:t>PSF</a:t>
            </a:r>
            <a:r>
              <a:rPr lang="zh-CN" altLang="en-US" sz="1400" b="0">
                <a:latin typeface="+mn-lt"/>
              </a:rPr>
              <a:t>和</a:t>
            </a:r>
            <a:r>
              <a:rPr lang="en-US" altLang="zh-CN" sz="1400" b="0">
                <a:solidFill>
                  <a:srgbClr val="FF0000"/>
                </a:solidFill>
                <a:latin typeface="+mn-lt"/>
              </a:rPr>
              <a:t>SSF</a:t>
            </a:r>
            <a:r>
              <a:rPr lang="zh-CN" altLang="en-US" sz="1400" b="0">
                <a:latin typeface="+mn-lt"/>
              </a:rPr>
              <a:t>是</a:t>
            </a:r>
            <a:r>
              <a:rPr lang="en-US" altLang="zh-CN" sz="1400" b="0">
                <a:latin typeface="+mn-lt"/>
              </a:rPr>
              <a:t>4</a:t>
            </a:r>
            <a:r>
              <a:rPr lang="zh-CN" altLang="en-US" sz="1400" b="0">
                <a:latin typeface="+mn-lt"/>
              </a:rPr>
              <a:t>个</a:t>
            </a:r>
            <a:r>
              <a:rPr lang="en-US" altLang="zh-CN" sz="1400" b="0">
                <a:latin typeface="+mn-lt"/>
              </a:rPr>
              <a:t>Core</a:t>
            </a:r>
            <a:r>
              <a:rPr lang="zh-CN" altLang="en-US" sz="1400" b="0">
                <a:latin typeface="+mn-lt"/>
              </a:rPr>
              <a:t>都参与共享。</a:t>
            </a:r>
            <a:endParaRPr lang="en-US" altLang="zh-CN" sz="1400" b="0">
              <a:latin typeface="+mn-lt"/>
            </a:endParaRPr>
          </a:p>
          <a:p>
            <a:r>
              <a:rPr lang="zh-CN" altLang="en-US" sz="1400" b="0">
                <a:latin typeface="+mn-lt"/>
              </a:rPr>
              <a:t>（</a:t>
            </a:r>
            <a:r>
              <a:rPr lang="en-US" altLang="zh-CN" sz="1400" b="0">
                <a:latin typeface="+mn-lt"/>
              </a:rPr>
              <a:t>3</a:t>
            </a:r>
            <a:r>
              <a:rPr lang="zh-CN" altLang="en-US" sz="1400" b="0">
                <a:latin typeface="+mn-lt"/>
              </a:rPr>
              <a:t>）新增</a:t>
            </a:r>
            <a:r>
              <a:rPr lang="en-US" altLang="zh-CN" sz="1400" b="0">
                <a:solidFill>
                  <a:srgbClr val="FF0000"/>
                </a:solidFill>
                <a:latin typeface="+mn-lt"/>
              </a:rPr>
              <a:t>SF ISSUE</a:t>
            </a:r>
            <a:r>
              <a:rPr lang="zh-CN" altLang="en-US" sz="1400" b="0">
                <a:latin typeface="+mn-lt"/>
              </a:rPr>
              <a:t>和</a:t>
            </a:r>
            <a:r>
              <a:rPr lang="en-US" altLang="zh-CN" sz="1400" b="0">
                <a:solidFill>
                  <a:srgbClr val="FF0000"/>
                </a:solidFill>
                <a:latin typeface="+mn-lt"/>
              </a:rPr>
              <a:t>SF </a:t>
            </a:r>
            <a:r>
              <a:rPr lang="en-US" altLang="zh-CN" sz="1400" b="0" err="1">
                <a:solidFill>
                  <a:srgbClr val="FF0000"/>
                </a:solidFill>
                <a:latin typeface="+mn-lt"/>
              </a:rPr>
              <a:t>WriteBack</a:t>
            </a:r>
            <a:r>
              <a:rPr lang="zh-CN" altLang="en-US" sz="1400" b="0">
                <a:latin typeface="+mn-lt"/>
              </a:rPr>
              <a:t>模块，用于数据转发。</a:t>
            </a:r>
            <a:endParaRPr lang="en-US" altLang="zh-CN" sz="1400" b="0">
              <a:latin typeface="+mn-lt"/>
            </a:endParaRPr>
          </a:p>
          <a:p>
            <a:r>
              <a:rPr lang="zh-CN" altLang="en-US" sz="1400" b="0">
                <a:latin typeface="+mn-lt"/>
              </a:rPr>
              <a:t>（</a:t>
            </a:r>
            <a:r>
              <a:rPr lang="en-US" altLang="zh-CN" sz="1400" b="0">
                <a:latin typeface="+mn-lt"/>
              </a:rPr>
              <a:t>4</a:t>
            </a:r>
            <a:r>
              <a:rPr lang="zh-CN" altLang="en-US" sz="1400" b="0">
                <a:latin typeface="+mn-lt"/>
              </a:rPr>
              <a:t>）新增</a:t>
            </a:r>
            <a:r>
              <a:rPr lang="en-US" altLang="zh-CN" sz="1400" b="0">
                <a:solidFill>
                  <a:srgbClr val="FF0000"/>
                </a:solidFill>
                <a:latin typeface="+mn-lt"/>
              </a:rPr>
              <a:t>Write Buffer</a:t>
            </a:r>
            <a:r>
              <a:rPr lang="zh-CN" altLang="en-US" sz="1400" b="0">
                <a:latin typeface="+mn-lt"/>
              </a:rPr>
              <a:t>，用于暂存从其它</a:t>
            </a:r>
            <a:r>
              <a:rPr lang="en-US" altLang="zh-CN" sz="1400" b="0">
                <a:latin typeface="+mn-lt"/>
              </a:rPr>
              <a:t>Core</a:t>
            </a:r>
            <a:r>
              <a:rPr lang="zh-CN" altLang="en-US" sz="1400" b="0">
                <a:latin typeface="+mn-lt"/>
              </a:rPr>
              <a:t>回来的数据。</a:t>
            </a:r>
            <a:endParaRPr lang="zh-CN" altLang="en-US" sz="1400" b="0">
              <a:latin typeface="+mn-lt"/>
            </a:endParaRPr>
          </a:p>
        </p:txBody>
      </p:sp>
      <p:pic>
        <p:nvPicPr>
          <p:cNvPr id="8" name="图片 7" descr="图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3140980"/>
            <a:ext cx="8801330" cy="30698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926855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Sub-Core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间的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FU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共享架构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551" y="1340855"/>
            <a:ext cx="2205586" cy="651887"/>
          </a:xfrm>
        </p:spPr>
        <p:txBody>
          <a:bodyPr/>
          <a:lstStyle/>
          <a:p>
            <a:r>
              <a:rPr lang="zh-CN" altLang="en-US"/>
              <a:t>实验结果</a:t>
            </a:r>
            <a:endParaRPr lang="en-US" altLang="zh-CN"/>
          </a:p>
        </p:txBody>
      </p:sp>
      <p:pic>
        <p:nvPicPr>
          <p:cNvPr id="6" name="图片 5" descr="图表, 条形图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56" y="1119696"/>
            <a:ext cx="5256365" cy="18772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2" y="3067520"/>
            <a:ext cx="4932869" cy="1585565"/>
          </a:xfrm>
          <a:prstGeom prst="rect">
            <a:avLst/>
          </a:prstGeom>
        </p:spPr>
      </p:pic>
      <p:pic>
        <p:nvPicPr>
          <p:cNvPr id="10" name="图片 9" descr="图表, 条形图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2" y="4746780"/>
            <a:ext cx="4860864" cy="15624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84886" y="3140980"/>
            <a:ext cx="5832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效果最好的</a:t>
            </a:r>
            <a:r>
              <a:rPr lang="en-US" altLang="zh-CN" sz="2000">
                <a:solidFill>
                  <a:srgbClr val="FF0000"/>
                </a:solidFill>
              </a:rPr>
              <a:t>SSF</a:t>
            </a:r>
            <a:r>
              <a:rPr lang="zh-CN" altLang="en-US" sz="2000">
                <a:solidFill>
                  <a:srgbClr val="FF0000"/>
                </a:solidFill>
              </a:rPr>
              <a:t>策略其</a:t>
            </a:r>
            <a:r>
              <a:rPr lang="en-US" altLang="zh-CN" sz="2000">
                <a:solidFill>
                  <a:srgbClr val="FF0000"/>
                </a:solidFill>
              </a:rPr>
              <a:t>IPC</a:t>
            </a:r>
            <a:r>
              <a:rPr lang="zh-CN" altLang="en-US" sz="2000">
                <a:solidFill>
                  <a:srgbClr val="FF0000"/>
                </a:solidFill>
              </a:rPr>
              <a:t>提升幅度平均为</a:t>
            </a:r>
            <a:r>
              <a:rPr lang="en-US" altLang="zh-CN" sz="2000">
                <a:solidFill>
                  <a:srgbClr val="FF0000"/>
                </a:solidFill>
              </a:rPr>
              <a:t>14.1%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56890" y="3789025"/>
            <a:ext cx="547238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/>
              <a:t>结构主要对计算任务进行优化，对于访存敏感的任务，其效果虽然不明显，但也没有负面影响。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/>
              <a:t>效果较好的</a:t>
            </a:r>
            <a:r>
              <a:rPr lang="en-US" altLang="zh-CN"/>
              <a:t>cases</a:t>
            </a:r>
            <a:r>
              <a:rPr lang="zh-CN" altLang="en-US"/>
              <a:t>，其</a:t>
            </a:r>
            <a:r>
              <a:rPr lang="en-US" altLang="zh-CN"/>
              <a:t>FU</a:t>
            </a:r>
            <a:r>
              <a:rPr lang="zh-CN" altLang="en-US"/>
              <a:t>利用率在相应提升，</a:t>
            </a:r>
            <a:r>
              <a:rPr lang="en-US" altLang="zh-CN"/>
              <a:t>OC</a:t>
            </a:r>
            <a:r>
              <a:rPr lang="zh-CN" altLang="en-US"/>
              <a:t>阻塞率在相应下降，符合之前的实验分析。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6591" y="116770"/>
            <a:ext cx="849659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 sz="3600">
                <a:latin typeface="+mj-lt"/>
              </a:rPr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解决的问题</a:t>
            </a:r>
            <a:endParaRPr lang="en-US" altLang="zh-CN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91" y="1988900"/>
            <a:ext cx="4968345" cy="3950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1224611" y="6021180"/>
            <a:ext cx="4968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四个子核竞争一级访存资源，会有访存资源竞争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981" y="2204915"/>
            <a:ext cx="3456240" cy="29201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633056" y="5157120"/>
            <a:ext cx="1296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Turing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架构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实验分析</a:t>
            </a:r>
            <a:endParaRPr lang="en-US" altLang="zh-C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81" y="1916895"/>
            <a:ext cx="4392305" cy="1725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5400901" y="1988900"/>
            <a:ext cx="4968345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子核阻塞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：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Sub-Core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中所有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Warp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都被阻塞</a:t>
            </a:r>
            <a:b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                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（访存阻塞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&amp;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相关阻塞）</a:t>
            </a:r>
            <a:endParaRPr lang="en-US" altLang="zh-CN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影响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：流水线空泡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&amp;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计算单元闲置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61" y="3933035"/>
            <a:ext cx="4752330" cy="186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5400901" y="3933035"/>
            <a:ext cx="4968345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+mn-lt"/>
              </a:rPr>
              <a:t>xSC_BK: 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有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x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个子核同时阻塞</a:t>
            </a:r>
            <a:endParaRPr lang="en-US" altLang="zh-CN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观察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：</a:t>
            </a:r>
            <a:b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0SC_BK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时没有子核阻塞，计算资源被充分利用</a:t>
            </a:r>
            <a:b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4SC_BK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+mn-lt"/>
              </a:rPr>
              <a:t>的占比很高，说明各子核的线程束经常同步进入访存密集型代码段，导致一级数据缓存面临过大的并发访问压力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936591" y="116770"/>
            <a:ext cx="8496590" cy="8548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/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实验分析</a:t>
            </a:r>
            <a:endParaRPr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936591" y="116770"/>
            <a:ext cx="8496590" cy="8548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/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6" y="1772885"/>
            <a:ext cx="6408445" cy="251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48571" y="4509075"/>
          <a:ext cx="51843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56"/>
                <a:gridCol w="1872129"/>
                <a:gridCol w="2520175"/>
              </a:tblGrid>
              <a:tr h="300021"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缩写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全称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解释</a:t>
                      </a:r>
                      <a:endParaRPr lang="zh-CN" altLang="en-US" sz="1400" b="1"/>
                    </a:p>
                  </a:txBody>
                  <a:tcPr/>
                </a:tc>
              </a:tr>
              <a:tr h="300021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ABC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bank conflict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地址组冲突</a:t>
                      </a:r>
                      <a:endParaRPr lang="zh-CN" altLang="en-US" sz="1200"/>
                    </a:p>
                  </a:txBody>
                  <a:tcPr/>
                </a:tc>
              </a:tr>
              <a:tr h="300021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LAF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 allocation fail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缓存行分配失败</a:t>
                      </a:r>
                      <a:endParaRPr lang="zh-CN" altLang="en-US" sz="1200"/>
                    </a:p>
                  </a:txBody>
                  <a:tcPr/>
                </a:tc>
              </a:tr>
              <a:tr h="300021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MQF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 queue full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缺失队列已满</a:t>
                      </a:r>
                      <a:endParaRPr lang="zh-CN" altLang="en-US" sz="1200"/>
                    </a:p>
                  </a:txBody>
                  <a:tcPr/>
                </a:tc>
              </a:tr>
              <a:tr h="300021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MEF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MSHR entry fail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缺失状态保持寄存器已满</a:t>
                      </a:r>
                      <a:endParaRPr lang="zh-CN" altLang="en-US" sz="1200"/>
                    </a:p>
                  </a:txBody>
                  <a:tcPr/>
                </a:tc>
              </a:tr>
              <a:tr h="300021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MME</a:t>
                      </a:r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MSHR merge entry fail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缺失状态保持寄存器合并项数已满</a:t>
                      </a: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624986" y="4509075"/>
            <a:ext cx="3888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zh-CN"/>
              <a:t>缓存组相关的</a:t>
            </a:r>
            <a:r>
              <a:rPr lang="en-US" altLang="zh-CN"/>
              <a:t>ABC</a:t>
            </a:r>
            <a:r>
              <a:rPr lang="zh-CN" altLang="zh-CN"/>
              <a:t>阻塞和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zh-CN"/>
              <a:t>缺失队列相关的</a:t>
            </a:r>
            <a:r>
              <a:rPr lang="en-US" altLang="zh-CN"/>
              <a:t>MQF</a:t>
            </a:r>
            <a:r>
              <a:rPr lang="zh-CN" altLang="zh-CN"/>
              <a:t>阻塞</a:t>
            </a:r>
            <a:br>
              <a:rPr lang="en-US" altLang="zh-CN"/>
            </a:br>
            <a:r>
              <a:rPr lang="zh-CN" altLang="zh-CN"/>
              <a:t>是制约缓存效率的两大主要瓶颈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解决的问题</a:t>
            </a:r>
            <a:endParaRPr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936591" y="116770"/>
            <a:ext cx="8496590" cy="8548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/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6" y="1700880"/>
            <a:ext cx="4032280" cy="497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256891" y="1772885"/>
            <a:ext cx="52563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重分配状态：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4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个子核被分为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个主导子核（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DSC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）、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个让渡子核（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CSC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个普通子核（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NSC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）。在访存优先级上，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DSC&gt;NSC&gt;CSC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56891" y="2852960"/>
            <a:ext cx="52563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主导子核：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）内存请求仲裁器优先选择来自主导子核的请求。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）独占区域：缓存行、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MSHR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、缺失队列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6891" y="3933035"/>
            <a:ext cx="424829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让渡子核：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直接绕过一级数据缓存，使主导子核和普通子核能获得更充分的访存资源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解决的问题</a:t>
            </a:r>
            <a:endParaRPr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936591" y="116770"/>
            <a:ext cx="8496590" cy="8548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/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6" y="1700880"/>
            <a:ext cx="4032280" cy="497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256891" y="1772885"/>
            <a:ext cx="52563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重分配状态：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4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个子核被分为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个主导子核（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DSC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）、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个让渡子核（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CSC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个普通子核（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NSC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）。在访存优先级上，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DSC&gt;NSC&gt;CSC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56891" y="2852960"/>
            <a:ext cx="52563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主导子核：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）内存请求仲裁器优先选择来自主导子核的请求。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）独占区域：缓存行、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MSHR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、缺失队列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6891" y="3933035"/>
            <a:ext cx="28081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让渡子核：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直接绕过一级数据缓存，使主导子核和普通子核能获得更充分的访存资源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096" y="3573010"/>
            <a:ext cx="2232155" cy="3172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解决的问题</a:t>
            </a:r>
            <a:endParaRPr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936591" y="116770"/>
            <a:ext cx="8496590" cy="8548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/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626" y="2204915"/>
            <a:ext cx="4156765" cy="252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120951" y="2564940"/>
            <a:ext cx="36002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失败队列：</a:t>
            </a:r>
            <a:b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针对多个访存请求同时访问一级数据缓存同一数据组引发的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ABC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冲突问题，我们在每个子核的访存单元出口处增设了一个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8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项容量的先进先出失败队列</a:t>
            </a:r>
            <a:endParaRPr lang="zh-CN" altLang="en-US" sz="16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解决的问题</a:t>
            </a:r>
            <a:endParaRPr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936591" y="116770"/>
            <a:ext cx="8496590" cy="8548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/>
              <a:t>访存资源的动态重分配架构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61" y="1988900"/>
            <a:ext cx="4968345" cy="213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61" y="4149049"/>
            <a:ext cx="4968345" cy="213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688921" y="2492935"/>
            <a:ext cx="48963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PS2</a:t>
            </a:r>
            <a:r>
              <a:rPr lang="zh-CN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测试表现最为突出，实现了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22.03%</a:t>
            </a:r>
            <a:r>
              <a:rPr lang="zh-CN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的最大性能提升，这与其高度依赖访存优化的特性密切相关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r>
              <a:rPr lang="zh-CN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整体性能提升达到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6.28%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3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PGM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PMV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等计算密集型测试的性能提升相对有限（分别仅为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2.1%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1.8%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60926" y="4509075"/>
            <a:ext cx="48963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）所有测试用例的访存阻塞率均呈现下降趋势，平均降幅达到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19.58%</a:t>
            </a:r>
            <a:b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</a:b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（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2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PGM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PMV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等计算密集型测试的访存阻塞同样得到显著改善（降幅分别为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18.2%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17.9%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+mn-lt"/>
              </a:rPr>
              <a:t>），但由于其性能瓶颈主要在于计算资源限制，这些优化未能转化为实际的性能提升。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3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 sz="3600">
                <a:latin typeface="+mj-lt"/>
              </a:rPr>
              <a:t>基于负载均衡的抢占式调度框架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360550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解决的问题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76" y="2060905"/>
            <a:ext cx="5259997" cy="177889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0576" y="1691573"/>
            <a:ext cx="331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Kernel</a:t>
            </a:r>
            <a:r>
              <a:rPr lang="zh-CN" altLang="en-US"/>
              <a:t>的</a:t>
            </a:r>
            <a:r>
              <a:rPr lang="en-US" altLang="zh-CN"/>
              <a:t>QoS</a:t>
            </a:r>
            <a:r>
              <a:rPr lang="zh-CN" altLang="en-US"/>
              <a:t>需求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0575" y="3855278"/>
            <a:ext cx="6336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Kernel</a:t>
            </a:r>
            <a:r>
              <a:rPr lang="zh-CN" altLang="en-US"/>
              <a:t>的</a:t>
            </a:r>
            <a:r>
              <a:rPr lang="en-US" altLang="zh-CN"/>
              <a:t>Starvation</a:t>
            </a:r>
            <a:r>
              <a:rPr lang="zh-CN" altLang="en-US"/>
              <a:t>问题（由</a:t>
            </a:r>
            <a:r>
              <a:rPr lang="en-US" altLang="zh-CN"/>
              <a:t>Persistent Thread</a:t>
            </a:r>
            <a:r>
              <a:rPr lang="zh-CN" altLang="en-US"/>
              <a:t>引发）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1" y="4240092"/>
            <a:ext cx="7416515" cy="225669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96991" y="1682773"/>
            <a:ext cx="3312230" cy="162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SM</a:t>
            </a:r>
            <a:r>
              <a:rPr lang="zh-CN" altLang="en-US"/>
              <a:t>的负载均衡问题</a:t>
            </a:r>
            <a:endParaRPr lang="en-US" altLang="zh-CN"/>
          </a:p>
          <a:p>
            <a:pPr>
              <a:lnSpc>
                <a:spcPts val="1600"/>
              </a:lnSpc>
            </a:pPr>
            <a:r>
              <a:rPr lang="zh-CN" altLang="en-US" sz="1400" b="0">
                <a:latin typeface="+mn-lt"/>
              </a:rPr>
              <a:t>平衡</a:t>
            </a:r>
            <a:r>
              <a:rPr lang="en-US" altLang="zh-CN" sz="1400" b="0">
                <a:latin typeface="+mn-lt"/>
              </a:rPr>
              <a:t>SM</a:t>
            </a:r>
            <a:r>
              <a:rPr lang="zh-CN" altLang="en-US" sz="1400" b="0">
                <a:latin typeface="+mn-lt"/>
              </a:rPr>
              <a:t>内部各种资源的使用量：</a:t>
            </a:r>
            <a:endParaRPr lang="en-US" altLang="zh-CN" sz="1400" b="0">
              <a:latin typeface="+mn-lt"/>
            </a:endParaRP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+mn-lt"/>
              </a:rPr>
              <a:t>Register</a:t>
            </a:r>
            <a:r>
              <a:rPr lang="zh-CN" altLang="en-US" sz="1400" b="0">
                <a:latin typeface="+mn-lt"/>
              </a:rPr>
              <a:t> </a:t>
            </a:r>
            <a:r>
              <a:rPr lang="en-US" altLang="zh-CN" sz="1400" b="0">
                <a:latin typeface="+mn-lt"/>
              </a:rPr>
              <a:t>Files</a:t>
            </a:r>
            <a:endParaRPr lang="en-US" altLang="zh-CN" sz="1400" b="0">
              <a:latin typeface="+mn-lt"/>
            </a:endParaRP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+mn-lt"/>
              </a:rPr>
              <a:t>Shared Memory</a:t>
            </a:r>
            <a:endParaRPr lang="en-US" altLang="zh-CN" sz="1400" b="0">
              <a:latin typeface="+mn-lt"/>
            </a:endParaRP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+mn-lt"/>
              </a:rPr>
              <a:t>Warp Slots</a:t>
            </a:r>
            <a:endParaRPr lang="zh-CN" altLang="en-US" sz="1400" b="0">
              <a:latin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854850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研究成果</a:t>
            </a:r>
            <a:r>
              <a:rPr lang="en-US" altLang="zh-CN">
                <a:latin typeface="+mn-lt"/>
                <a:ea typeface="+mn-ea"/>
                <a:cs typeface="+mn-cs"/>
                <a:sym typeface="+mn-ea"/>
              </a:rPr>
              <a:t>3</a:t>
            </a:r>
            <a:r>
              <a:rPr lang="zh-CN" altLang="en-US"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 sz="3600">
                <a:latin typeface="+mj-lt"/>
              </a:rPr>
              <a:t>基于负载均衡的抢占式调度框架</a:t>
            </a: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45333" y="1124840"/>
            <a:ext cx="2376165" cy="651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24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l"/>
              <a:defRPr sz="1800" b="1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总体框架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482119" y="1268850"/>
            <a:ext cx="5472380" cy="1829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>
                <a:latin typeface="+mn-lt"/>
              </a:rPr>
              <a:t>高效的上下文切换架构</a:t>
            </a:r>
            <a:endParaRPr lang="en-US" altLang="zh-CN" sz="2000">
              <a:latin typeface="+mn-lt"/>
            </a:endParaRP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latin typeface="+mj-lt"/>
              </a:rPr>
              <a:t>（</a:t>
            </a:r>
            <a:r>
              <a:rPr lang="en-US" altLang="zh-CN" sz="1600" b="0">
                <a:latin typeface="+mj-lt"/>
              </a:rPr>
              <a:t>1</a:t>
            </a:r>
            <a:r>
              <a:rPr lang="zh-CN" altLang="en-US" sz="1600" b="0">
                <a:latin typeface="+mj-lt"/>
              </a:rPr>
              <a:t>）基于优先级</a:t>
            </a:r>
            <a:r>
              <a:rPr lang="en-US" altLang="zh-CN" sz="1600" b="0">
                <a:latin typeface="+mj-lt"/>
              </a:rPr>
              <a:t>+</a:t>
            </a:r>
            <a:r>
              <a:rPr lang="zh-CN" altLang="en-US" sz="1600" b="0">
                <a:latin typeface="+mj-lt"/>
              </a:rPr>
              <a:t>时间片的</a:t>
            </a:r>
            <a:r>
              <a:rPr lang="en-US" altLang="zh-CN" sz="1600" b="0">
                <a:latin typeface="+mj-lt"/>
              </a:rPr>
              <a:t>kernel</a:t>
            </a:r>
            <a:r>
              <a:rPr lang="zh-CN" altLang="en-US" sz="1600" b="0">
                <a:latin typeface="+mj-lt"/>
              </a:rPr>
              <a:t>仲裁</a:t>
            </a:r>
            <a:endParaRPr lang="en-US" altLang="zh-CN" sz="1600" b="0">
              <a:latin typeface="+mj-lt"/>
            </a:endParaRPr>
          </a:p>
          <a:p>
            <a:pPr marL="742950" lvl="1" indent="-28575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600" b="0">
                <a:latin typeface="+mj-lt"/>
              </a:rPr>
              <a:t>高优先级</a:t>
            </a:r>
            <a:r>
              <a:rPr lang="en-US" altLang="zh-CN" sz="1600" b="0">
                <a:latin typeface="+mj-lt"/>
              </a:rPr>
              <a:t>kernel</a:t>
            </a:r>
            <a:r>
              <a:rPr lang="zh-CN" altLang="en-US" sz="1600" b="0">
                <a:latin typeface="+mj-lt"/>
              </a:rPr>
              <a:t>抢占低优先级</a:t>
            </a:r>
            <a:endParaRPr lang="en-US" altLang="zh-CN" sz="1600" b="0">
              <a:latin typeface="+mj-lt"/>
            </a:endParaRPr>
          </a:p>
          <a:p>
            <a:pPr marL="742950" lvl="1" indent="-28575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600" b="0">
                <a:latin typeface="+mj-lt"/>
              </a:rPr>
              <a:t>时间片结束后续</a:t>
            </a:r>
            <a:r>
              <a:rPr lang="en-US" altLang="zh-CN" sz="1600" b="0">
                <a:latin typeface="+mj-lt"/>
              </a:rPr>
              <a:t>kernel</a:t>
            </a:r>
            <a:r>
              <a:rPr lang="zh-CN" altLang="en-US" sz="1600" b="0">
                <a:latin typeface="+mj-lt"/>
              </a:rPr>
              <a:t>抢占执行</a:t>
            </a:r>
            <a:r>
              <a:rPr lang="en-US" altLang="zh-CN" sz="1600" b="0">
                <a:latin typeface="+mj-lt"/>
              </a:rPr>
              <a:t>kernel</a:t>
            </a:r>
            <a:endParaRPr lang="en-US" altLang="zh-CN" sz="1600" b="0">
              <a:latin typeface="+mj-lt"/>
            </a:endParaRP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latin typeface="+mj-lt"/>
              </a:rPr>
              <a:t>（</a:t>
            </a:r>
            <a:r>
              <a:rPr lang="en-US" altLang="zh-CN" sz="1600" b="0">
                <a:latin typeface="+mj-lt"/>
              </a:rPr>
              <a:t>2</a:t>
            </a:r>
            <a:r>
              <a:rPr lang="zh-CN" altLang="en-US" sz="1600" b="0">
                <a:latin typeface="+mj-lt"/>
              </a:rPr>
              <a:t>）增加</a:t>
            </a:r>
            <a:r>
              <a:rPr lang="en-US" altLang="zh-CN" sz="1600" b="0">
                <a:latin typeface="+mj-lt"/>
              </a:rPr>
              <a:t>shared memory</a:t>
            </a:r>
            <a:r>
              <a:rPr lang="zh-CN" altLang="en-US" sz="1600" b="0">
                <a:latin typeface="+mj-lt"/>
              </a:rPr>
              <a:t>到</a:t>
            </a:r>
            <a:r>
              <a:rPr lang="en-US" altLang="zh-CN" sz="1600" b="0">
                <a:latin typeface="+mj-lt"/>
              </a:rPr>
              <a:t>L2 Cache</a:t>
            </a:r>
            <a:r>
              <a:rPr lang="zh-CN" altLang="en-US" sz="1600" b="0">
                <a:latin typeface="+mj-lt"/>
              </a:rPr>
              <a:t>的数据直接传输</a:t>
            </a:r>
            <a:endParaRPr lang="en-US" altLang="zh-CN" sz="1600" b="0"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08062" y="3759548"/>
            <a:ext cx="5472380" cy="1829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>
                <a:latin typeface="+mj-lt"/>
              </a:rPr>
              <a:t>资源感知的</a:t>
            </a:r>
            <a:r>
              <a:rPr lang="en-US" altLang="zh-CN" sz="2000">
                <a:latin typeface="+mj-lt"/>
              </a:rPr>
              <a:t>Block</a:t>
            </a:r>
            <a:r>
              <a:rPr lang="zh-CN" altLang="en-US" sz="2000">
                <a:latin typeface="+mj-lt"/>
              </a:rPr>
              <a:t>调度策略</a:t>
            </a:r>
            <a:endParaRPr lang="en-US" altLang="zh-CN" sz="2000">
              <a:latin typeface="+mj-lt"/>
            </a:endParaRP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latin typeface="+mj-lt"/>
              </a:rPr>
              <a:t>（</a:t>
            </a:r>
            <a:r>
              <a:rPr lang="en-US" altLang="zh-CN" sz="1600" b="0">
                <a:latin typeface="+mj-lt"/>
              </a:rPr>
              <a:t>1</a:t>
            </a:r>
            <a:r>
              <a:rPr lang="zh-CN" altLang="en-US" sz="1600" b="0">
                <a:latin typeface="+mj-lt"/>
              </a:rPr>
              <a:t>）</a:t>
            </a:r>
            <a:r>
              <a:rPr lang="en-US" altLang="zh-CN" sz="1600" b="0">
                <a:latin typeface="+mj-lt"/>
              </a:rPr>
              <a:t>Block Scheduler</a:t>
            </a:r>
            <a:r>
              <a:rPr lang="zh-CN" altLang="en-US" sz="1600" b="0">
                <a:latin typeface="+mj-lt"/>
              </a:rPr>
              <a:t>向所有</a:t>
            </a:r>
            <a:r>
              <a:rPr lang="en-US" altLang="zh-CN" sz="1600" b="0">
                <a:latin typeface="+mj-lt"/>
              </a:rPr>
              <a:t>SM</a:t>
            </a:r>
            <a:r>
              <a:rPr lang="zh-CN" altLang="en-US" sz="1600" b="0">
                <a:latin typeface="+mj-lt"/>
              </a:rPr>
              <a:t>内部</a:t>
            </a:r>
            <a:r>
              <a:rPr lang="en-US" altLang="zh-CN" sz="1600" b="0">
                <a:latin typeface="+mj-lt"/>
              </a:rPr>
              <a:t>LTS</a:t>
            </a:r>
            <a:r>
              <a:rPr lang="zh-CN" altLang="en-US" sz="1600" b="0">
                <a:latin typeface="+mj-lt"/>
              </a:rPr>
              <a:t>查询其所能容纳的最大</a:t>
            </a:r>
            <a:r>
              <a:rPr lang="en-US" altLang="zh-CN" sz="1600" b="0">
                <a:latin typeface="+mj-lt"/>
              </a:rPr>
              <a:t>block</a:t>
            </a:r>
            <a:r>
              <a:rPr lang="zh-CN" altLang="en-US" sz="1600" b="0">
                <a:latin typeface="+mj-lt"/>
              </a:rPr>
              <a:t>数量。（该值由</a:t>
            </a:r>
            <a:r>
              <a:rPr lang="en-US" altLang="zh-CN" sz="1600" b="0">
                <a:latin typeface="+mj-lt"/>
              </a:rPr>
              <a:t>GPR</a:t>
            </a:r>
            <a:r>
              <a:rPr lang="zh-CN" altLang="en-US" sz="1600" b="0">
                <a:latin typeface="+mj-lt"/>
              </a:rPr>
              <a:t>、</a:t>
            </a:r>
            <a:r>
              <a:rPr lang="en-US" altLang="zh-CN" sz="1600" b="0">
                <a:latin typeface="+mj-lt"/>
              </a:rPr>
              <a:t>Shared Memory</a:t>
            </a:r>
            <a:r>
              <a:rPr lang="zh-CN" altLang="en-US" sz="1600" b="0">
                <a:latin typeface="+mj-lt"/>
              </a:rPr>
              <a:t>、</a:t>
            </a:r>
            <a:r>
              <a:rPr lang="en-US" altLang="zh-CN" sz="1600" b="0">
                <a:latin typeface="+mj-lt"/>
              </a:rPr>
              <a:t>Slot</a:t>
            </a:r>
            <a:r>
              <a:rPr lang="zh-CN" altLang="en-US" sz="1600" b="0">
                <a:latin typeface="+mj-lt"/>
              </a:rPr>
              <a:t>资源量计算所得）</a:t>
            </a:r>
            <a:br>
              <a:rPr lang="en-US" altLang="zh-CN" sz="1600" b="0">
                <a:latin typeface="+mj-lt"/>
              </a:rPr>
            </a:br>
            <a:r>
              <a:rPr lang="zh-CN" altLang="en-US" sz="1600" b="0">
                <a:latin typeface="+mj-lt"/>
              </a:rPr>
              <a:t>（</a:t>
            </a:r>
            <a:r>
              <a:rPr lang="en-US" altLang="zh-CN" sz="1600" b="0">
                <a:latin typeface="+mj-lt"/>
              </a:rPr>
              <a:t>2</a:t>
            </a:r>
            <a:r>
              <a:rPr lang="zh-CN" altLang="en-US" sz="1600" b="0">
                <a:latin typeface="+mj-lt"/>
              </a:rPr>
              <a:t>）策略：选择所能容纳</a:t>
            </a:r>
            <a:r>
              <a:rPr lang="en-US" altLang="zh-CN" sz="1600" b="0">
                <a:latin typeface="+mj-lt"/>
              </a:rPr>
              <a:t>block</a:t>
            </a:r>
            <a:r>
              <a:rPr lang="zh-CN" altLang="en-US" sz="1600" b="0">
                <a:latin typeface="+mj-lt"/>
              </a:rPr>
              <a:t>数量最多的</a:t>
            </a:r>
            <a:r>
              <a:rPr lang="en-US" altLang="zh-CN" sz="1600" b="0">
                <a:latin typeface="+mj-lt"/>
              </a:rPr>
              <a:t>SM</a:t>
            </a:r>
            <a:r>
              <a:rPr lang="zh-CN" altLang="en-US" sz="1600" b="0">
                <a:latin typeface="+mj-lt"/>
              </a:rPr>
              <a:t>发射。</a:t>
            </a:r>
            <a:endParaRPr lang="en-US" altLang="zh-CN" sz="1600" b="0">
              <a:latin typeface="+mj-lt"/>
            </a:endParaRPr>
          </a:p>
        </p:txBody>
      </p:sp>
      <p:pic>
        <p:nvPicPr>
          <p:cNvPr id="9" name="图片 8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700" y="956856"/>
            <a:ext cx="3407419" cy="59011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114689"/>
          <p:cNvSpPr>
            <a:spLocks noGrp="1"/>
          </p:cNvSpPr>
          <p:nvPr>
            <p:ph type="title"/>
          </p:nvPr>
        </p:nvSpPr>
        <p:spPr>
          <a:xfrm>
            <a:off x="732155" y="2528570"/>
            <a:ext cx="9575800" cy="1049020"/>
          </a:xfrm>
        </p:spPr>
        <p:txBody>
          <a:bodyPr anchor="b" anchorCtr="0"/>
          <a:lstStyle/>
          <a:p>
            <a:pPr algn="ctr"/>
            <a:r>
              <a:rPr lang="zh-CN" altLang="en-US" sz="4800">
                <a:solidFill>
                  <a:srgbClr val="FF0000"/>
                </a:solidFill>
              </a:rPr>
              <a:t>感谢聆听！请批评指导！</a:t>
            </a:r>
            <a:endParaRPr lang="zh-CN" altLang="en-US"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ebeca6c-6250-4f9f-b765-391e52f62e4f"/>
  <p:tag name="COMMONDATA" val="eyJoZGlkIjoiMzMxNWMxYTNlYWE2MmM4MzRiOTk2YzFkNzgwOTY2MjcifQ=="/>
</p:tagLst>
</file>

<file path=ppt/theme/theme1.xml><?xml version="1.0" encoding="utf-8"?>
<a:theme xmlns:a="http://schemas.openxmlformats.org/drawingml/2006/main" name="PPT模板2">
  <a:themeElements>
    <a:clrScheme name="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7"/>
      </a:accent4>
      <a:accent5>
        <a:srgbClr val="CAE2CA"/>
      </a:accent5>
      <a:accent6>
        <a:srgbClr val="2DB7B7"/>
      </a:accent6>
      <a:hlink>
        <a:srgbClr val="666699"/>
      </a:hlink>
      <a:folHlink>
        <a:srgbClr val="CC99FF"/>
      </a:folHlink>
    </a:clrScheme>
    <a:fontScheme name="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EB"/>
        </a:dk1>
        <a:lt1>
          <a:srgbClr val="336699"/>
        </a:lt1>
        <a:dk2>
          <a:srgbClr val="FFFFEB"/>
        </a:dk2>
        <a:lt2>
          <a:srgbClr val="000066"/>
        </a:lt2>
        <a:accent1>
          <a:srgbClr val="666699"/>
        </a:accent1>
        <a:accent2>
          <a:srgbClr val="99CCFF"/>
        </a:accent2>
        <a:accent3>
          <a:srgbClr val="ADB9CA"/>
        </a:accent3>
        <a:accent4>
          <a:srgbClr val="DCDCCA"/>
        </a:accent4>
        <a:accent5>
          <a:srgbClr val="B9B9CA"/>
        </a:accent5>
        <a:accent6>
          <a:srgbClr val="89B7E5"/>
        </a:accent6>
        <a:hlink>
          <a:srgbClr val="CCCCFF"/>
        </a:hlink>
        <a:folHlink>
          <a:srgbClr val="C68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7"/>
        </a:accent4>
        <a:accent5>
          <a:srgbClr val="CAE2CA"/>
        </a:accent5>
        <a:accent6>
          <a:srgbClr val="2DB7B7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27272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2DB7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CPU中心2014年总结v3.0</Template>
  <TotalTime>0</TotalTime>
  <Words>5573</Words>
  <Application>WPS 演示</Application>
  <PresentationFormat>Custom</PresentationFormat>
  <Paragraphs>464</Paragraphs>
  <Slides>30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Arial</vt:lpstr>
      <vt:lpstr>宋体</vt:lpstr>
      <vt:lpstr>Wingdings</vt:lpstr>
      <vt:lpstr>楷体_GB2312</vt:lpstr>
      <vt:lpstr>Times New Roman</vt:lpstr>
      <vt:lpstr>微软雅黑</vt:lpstr>
      <vt:lpstr>Tahoma</vt:lpstr>
      <vt:lpstr>阿里巴巴普惠体 R</vt:lpstr>
      <vt:lpstr>黑体</vt:lpstr>
      <vt:lpstr>quote-cjk-patch</vt:lpstr>
      <vt:lpstr>Segoe Print</vt:lpstr>
      <vt:lpstr>华文细黑</vt:lpstr>
      <vt:lpstr>新宋体</vt:lpstr>
      <vt:lpstr>Arial Unicode MS</vt:lpstr>
      <vt:lpstr>楷体_GB2312</vt:lpstr>
      <vt:lpstr>PPT模板2</vt:lpstr>
      <vt:lpstr>通用图形处理器的并发优化研究</vt:lpstr>
      <vt:lpstr>提纲</vt:lpstr>
      <vt:lpstr>论文背景</vt:lpstr>
      <vt:lpstr>论文背景</vt:lpstr>
      <vt:lpstr>论文背景</vt:lpstr>
      <vt:lpstr>论文背景</vt:lpstr>
      <vt:lpstr>论文背景</vt:lpstr>
      <vt:lpstr>论文背景</vt:lpstr>
      <vt:lpstr>相关工作</vt:lpstr>
      <vt:lpstr>相关工作</vt:lpstr>
      <vt:lpstr>相关工作</vt:lpstr>
      <vt:lpstr>相关工作</vt:lpstr>
      <vt:lpstr>相关工作</vt:lpstr>
      <vt:lpstr>PowerPoint 演示文稿</vt:lpstr>
      <vt:lpstr>PowerPoint 演示文稿</vt:lpstr>
      <vt:lpstr>论文进展情况——整体论文结构</vt:lpstr>
      <vt:lpstr>研究成果1：Sub-Core间的FU共享架构</vt:lpstr>
      <vt:lpstr>研究成果1：Sub-Core间的FU共享架构</vt:lpstr>
      <vt:lpstr>研究成果1：Sub-Core间的FU共享架构</vt:lpstr>
      <vt:lpstr>研究成果1：Sub-Core间的FU共享架构</vt:lpstr>
      <vt:lpstr>研究成果2：访存资源的动态重分配架构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研究成果3：基于负载均衡的抢占式调度框架</vt:lpstr>
      <vt:lpstr>研究成果3：基于负载均衡的抢占式调度框架</vt:lpstr>
      <vt:lpstr>感谢聆听！请批评指导！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2015年微处理器中心工作总结</dc:title>
  <dc:creator>self</dc:creator>
  <cp:lastModifiedBy>黄汝霖</cp:lastModifiedBy>
  <cp:revision>5</cp:revision>
  <dcterms:created xsi:type="dcterms:W3CDTF">2023-12-14T02:10:00Z</dcterms:created>
  <dcterms:modified xsi:type="dcterms:W3CDTF">2026-08-22T16:14:48Z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/>
  </property>
</Properties>
</file>